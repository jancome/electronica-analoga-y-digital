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88704a80ee4099" /><Relationship Type="http://schemas.openxmlformats.org/officeDocument/2006/relationships/extended-properties" Target="/docProps/app.xml" Id="R942b6ec13bb34ecd" /><Relationship Type="http://schemas.openxmlformats.org/officeDocument/2006/relationships/officeDocument" Target="/ppt/presentation.xml" Id="R569b605b8cf946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7fb15cb974478d"/>
  </p:sldMasterIdLst>
  <p:notesMasterIdLst>
    <p:notesMasterId xmlns:r="http://schemas.openxmlformats.org/officeDocument/2006/relationships" r:id="R52ec3b4b8dce4e37"/>
  </p:notesMasterIdLst>
  <p:sldIdLst>
    <p:sldId xmlns:r="http://schemas.openxmlformats.org/officeDocument/2006/relationships" id="256" r:id="R566642963cc94aa4"/>
    <p:sldId xmlns:r="http://schemas.openxmlformats.org/officeDocument/2006/relationships" id="257" r:id="R19043d87ceb74c30"/>
    <p:sldId xmlns:r="http://schemas.openxmlformats.org/officeDocument/2006/relationships" id="258" r:id="R6ce91e736c484cdd"/>
    <p:sldId xmlns:r="http://schemas.openxmlformats.org/officeDocument/2006/relationships" id="259" r:id="R5628e510e01e4a74"/>
    <p:sldId xmlns:r="http://schemas.openxmlformats.org/officeDocument/2006/relationships" id="260" r:id="R3db42ca4f807422d"/>
    <p:sldId xmlns:r="http://schemas.openxmlformats.org/officeDocument/2006/relationships" id="261" r:id="Re33ec5ffd92b4445"/>
    <p:sldId xmlns:r="http://schemas.openxmlformats.org/officeDocument/2006/relationships" id="262" r:id="R5c193872b78f4a58"/>
    <p:sldId xmlns:r="http://schemas.openxmlformats.org/officeDocument/2006/relationships" id="263" r:id="R0ab14884cbd04df6"/>
    <p:sldId xmlns:r="http://schemas.openxmlformats.org/officeDocument/2006/relationships" id="264" r:id="R1357643656e849fd"/>
    <p:sldId xmlns:r="http://schemas.openxmlformats.org/officeDocument/2006/relationships" id="265" r:id="R5547437b4b2f47c3"/>
    <p:sldId xmlns:r="http://schemas.openxmlformats.org/officeDocument/2006/relationships" id="266" r:id="R925e7056990a487c"/>
    <p:sldId xmlns:r="http://schemas.openxmlformats.org/officeDocument/2006/relationships" id="267" r:id="R52e28eb0019e404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446e4e63754970" /><Relationship Type="http://schemas.openxmlformats.org/officeDocument/2006/relationships/slideMaster" Target="/ppt/slideMasters/slideMaster1.xml" Id="R097fb15cb974478d" /><Relationship Type="http://schemas.openxmlformats.org/officeDocument/2006/relationships/notesMaster" Target="/ppt/notesMasters/notesMaster1.xml" Id="R52ec3b4b8dce4e37" /><Relationship Type="http://schemas.openxmlformats.org/officeDocument/2006/relationships/presProps" Target="/ppt/presProps.xml" Id="R0566878802234ee9" /><Relationship Type="http://schemas.openxmlformats.org/officeDocument/2006/relationships/tableStyles" Target="/ppt/tableStyles.xml" Id="Rf3ebe878d91d4af1" /><Relationship Type="http://schemas.openxmlformats.org/officeDocument/2006/relationships/slide" Target="/ppt/slides/slide1.xml" Id="R566642963cc94aa4" /><Relationship Type="http://schemas.openxmlformats.org/officeDocument/2006/relationships/slide" Target="/ppt/slides/slide2.xml" Id="R19043d87ceb74c30" /><Relationship Type="http://schemas.openxmlformats.org/officeDocument/2006/relationships/slide" Target="/ppt/slides/slide3.xml" Id="R6ce91e736c484cdd" /><Relationship Type="http://schemas.openxmlformats.org/officeDocument/2006/relationships/slide" Target="/ppt/slides/slide4.xml" Id="R5628e510e01e4a74" /><Relationship Type="http://schemas.openxmlformats.org/officeDocument/2006/relationships/slide" Target="/ppt/slides/slide5.xml" Id="R3db42ca4f807422d" /><Relationship Type="http://schemas.openxmlformats.org/officeDocument/2006/relationships/slide" Target="/ppt/slides/slide6.xml" Id="Re33ec5ffd92b4445" /><Relationship Type="http://schemas.openxmlformats.org/officeDocument/2006/relationships/slide" Target="/ppt/slides/slide7.xml" Id="R5c193872b78f4a58" /><Relationship Type="http://schemas.openxmlformats.org/officeDocument/2006/relationships/slide" Target="/ppt/slides/slide8.xml" Id="R0ab14884cbd04df6" /><Relationship Type="http://schemas.openxmlformats.org/officeDocument/2006/relationships/slide" Target="/ppt/slides/slide9.xml" Id="R1357643656e849fd" /><Relationship Type="http://schemas.openxmlformats.org/officeDocument/2006/relationships/slide" Target="/ppt/slides/slide10.xml" Id="R5547437b4b2f47c3" /><Relationship Type="http://schemas.openxmlformats.org/officeDocument/2006/relationships/slide" Target="/ppt/slides/slide11.xml" Id="R925e7056990a487c" /><Relationship Type="http://schemas.openxmlformats.org/officeDocument/2006/relationships/slide" Target="/ppt/slides/slide12.xml" Id="R52e28eb0019e40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bca739834c40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f1d94ea9624586" /><Relationship Type="http://schemas.openxmlformats.org/officeDocument/2006/relationships/notesMaster" Target="/ppt/notesMasters/notesMaster1.xml" Id="R1d123657d04148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932e0b19734252" /><Relationship Type="http://schemas.openxmlformats.org/officeDocument/2006/relationships/notesMaster" Target="/ppt/notesMasters/notesMaster1.xml" Id="Rc5f4d5f8a5c745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2c0b8cbbb64045" /><Relationship Type="http://schemas.openxmlformats.org/officeDocument/2006/relationships/notesMaster" Target="/ppt/notesMasters/notesMaster1.xml" Id="Rb8c3c0869ea945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d37dbba47a490e" /><Relationship Type="http://schemas.openxmlformats.org/officeDocument/2006/relationships/notesMaster" Target="/ppt/notesMasters/notesMaster1.xml" Id="Rd7a4f8a31f8442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8ceada42954fdf" /><Relationship Type="http://schemas.openxmlformats.org/officeDocument/2006/relationships/notesMaster" Target="/ppt/notesMasters/notesMaster1.xml" Id="R81c3c963c93344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2b64cf5b7447f7" /><Relationship Type="http://schemas.openxmlformats.org/officeDocument/2006/relationships/notesMaster" Target="/ppt/notesMasters/notesMaster1.xml" Id="R5f989f0076914f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22c460237349e2" /><Relationship Type="http://schemas.openxmlformats.org/officeDocument/2006/relationships/notesMaster" Target="/ppt/notesMasters/notesMaster1.xml" Id="Rc7a5d471224242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006347c4b2433a" /><Relationship Type="http://schemas.openxmlformats.org/officeDocument/2006/relationships/notesMaster" Target="/ppt/notesMasters/notesMaster1.xml" Id="R9341ce08ff5647f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eb7cf619d74dab" /><Relationship Type="http://schemas.openxmlformats.org/officeDocument/2006/relationships/notesMaster" Target="/ppt/notesMasters/notesMaster1.xml" Id="Rde11470053944a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b6c634c048d4977" /><Relationship Type="http://schemas.openxmlformats.org/officeDocument/2006/relationships/notesMaster" Target="/ppt/notesMasters/notesMaster1.xml" Id="R4b42013b65f6483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09e64e48ea40aa" /><Relationship Type="http://schemas.openxmlformats.org/officeDocument/2006/relationships/notesMaster" Target="/ppt/notesMasters/notesMaster1.xml" Id="R265c8ed209054b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57af0f60bc4e8b" /><Relationship Type="http://schemas.openxmlformats.org/officeDocument/2006/relationships/notesMaster" Target="/ppt/notesMasters/notesMaster1.xml" Id="Rab2a8f182f6e49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39f47432b41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5a4957cace47ab" /><Relationship Type="http://schemas.openxmlformats.org/officeDocument/2006/relationships/slideLayout" Target="/ppt/slideLayouts/slideLayout1.xml" Id="R098726deb08043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8726deb08043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26c6162f74b5b" /><Relationship Type="http://schemas.openxmlformats.org/officeDocument/2006/relationships/image" Target="/ppt/media/image.png" Id="Raac7b8e62ae1445a" /><Relationship Type="http://schemas.openxmlformats.org/officeDocument/2006/relationships/notesSlide" Target="/ppt/notesSlides/notesSlide1.xml" Id="R8ca0d7e8decf4d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104baef714b42" /><Relationship Type="http://schemas.openxmlformats.org/officeDocument/2006/relationships/notesSlide" Target="/ppt/notesSlides/notesSlide2.xml" Id="Rfda68d204c2446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bed3b9e7c14368" /><Relationship Type="http://schemas.openxmlformats.org/officeDocument/2006/relationships/notesSlide" Target="/ppt/notesSlides/notesSlide3.xml" Id="Ra50314bb774544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896686140427b" /><Relationship Type="http://schemas.openxmlformats.org/officeDocument/2006/relationships/notesSlide" Target="/ppt/notesSlides/notesSlide4.xml" Id="R6dbe350034cf46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3d7ebaf8543b4" /><Relationship Type="http://schemas.openxmlformats.org/officeDocument/2006/relationships/notesSlide" Target="/ppt/notesSlides/notesSlide5.xml" Id="Rd1e1cb28a2754e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f0a818c184d52" /><Relationship Type="http://schemas.openxmlformats.org/officeDocument/2006/relationships/notesSlide" Target="/ppt/notesSlides/notesSlide6.xml" Id="R72fce85cda074c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46496c565401e" /><Relationship Type="http://schemas.openxmlformats.org/officeDocument/2006/relationships/notesSlide" Target="/ppt/notesSlides/notesSlide7.xml" Id="R2473148594ce44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e91c7f9634049" /><Relationship Type="http://schemas.openxmlformats.org/officeDocument/2006/relationships/notesSlide" Target="/ppt/notesSlides/notesSlide8.xml" Id="R0a97b705050440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eb168746d4c34" /><Relationship Type="http://schemas.openxmlformats.org/officeDocument/2006/relationships/image" Target="/ppt/media/image2.png" Id="Rf8d67fbe71fa42c7" /><Relationship Type="http://schemas.openxmlformats.org/officeDocument/2006/relationships/notesSlide" Target="/ppt/notesSlides/notesSlide9.xml" Id="R808f7a840d2d48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4d833b86f49ac" /><Relationship Type="http://schemas.openxmlformats.org/officeDocument/2006/relationships/notesSlide" Target="/ppt/notesSlides/notesSlide10.xml" Id="R1b9e8294e4ec49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6d63c63814db6" /><Relationship Type="http://schemas.openxmlformats.org/officeDocument/2006/relationships/notesSlide" Target="/ppt/notesSlides/notesSlide11.xml" Id="R1dcc6f593b1a4b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0d8d171bd458f" /><Relationship Type="http://schemas.openxmlformats.org/officeDocument/2006/relationships/notesSlide" Target="/ppt/notesSlides/notesSlide12.xml" Id="R60be7de476a447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7b8e62ae1445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09092-5C65-4AE6-8C1E-0A80132E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71A2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C93F9-C567-444E-A830-7A5C01D5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533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ELECTRÓNICA ANALÓGICA Y DIGITAL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40288-02EA-48C5-ABBD-CC958365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542925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Fundamentos, diagnóstico y reto ABP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C8E6B-2A02-4371-B58D-9EE65649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5143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Semana 1 · Ingeniería Eléctrica · 2026-2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CE973-AB68-4998-B054-5CBBC6A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6007CB-9FEF-46C4-AE53-82101870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4857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Del circuito básico a una solución integrada de baja tensión.</a:t>
            </a:r>
          </a:p>
        </p:txBody>
      </p:sp>
    </p:spTree>
    <p:extLst>
      <p:ext uri="{BB962C8B-B14F-4D97-AF65-F5344CB8AC3E}">
        <p14:creationId xmlns:p14="http://schemas.microsoft.com/office/powerpoint/2010/main" val="1026881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05F788-1214-4599-87B6-9D1B9E1C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SEMANA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64698-D7C9-4BF7-BBB8-C0537408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curso conecta fundamentos con decisiones reales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D23DA-0E61-4B45-AEB4-E64C4062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975ECA-70AA-408C-A68E-806A3DE6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335280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7EBCF-A889-4002-A267-D3C5E971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9F12E-9F49-4536-9E23-C65205CD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65667-EF68-4669-AAC3-68E2C427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383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Analógica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E5FD7-C4CF-476E-AE33-CAA0252F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9337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Medimos señales, rectificamos, filtramos y controlamos cargas con dispositivos semiconductores.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D25F8-B735-4E03-BD36-A6F970A2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66900"/>
            <a:ext cx="335280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F5BA7-2EBC-4284-941D-4730DDCA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57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4B27E5-ECA7-4BDC-9D26-097B58C0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574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BD9A1-4F47-4019-9A01-520EFB7C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383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Digital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C7A2DD-4AB9-470E-914C-1FC69C80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9337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Representamos información, tomamos decisiones lógicas y construimos funciones combinacionales y secuenciales.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8D923-977D-4C15-8275-556D34D9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335280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8441F6-3DB5-4E9B-BF41-BE79EABD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57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DC0FE-CFA4-4327-85A7-888FBBA2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574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F42CF0-2280-4AE3-B60A-EEB5E004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383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Integración ABP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3232D1-6634-4478-9188-BB915F39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29337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Cada grupo transforma lo aprendido en una solución útil, segura, verificable y conectada con una necesidad local.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0FE0D-9D23-46E0-88A8-C6E3C1D4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314950"/>
            <a:ext cx="88773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La teoría será valiosa cuando permita calcular, medir, justificar y mejorar.</a:t>
            </a:r>
          </a:p>
        </p:txBody>
      </p:sp>
    </p:spTree>
    <p:extLst>
      <p:ext uri="{BB962C8B-B14F-4D97-AF65-F5344CB8AC3E}">
        <p14:creationId xmlns:p14="http://schemas.microsoft.com/office/powerpoint/2010/main" val="15725676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F6CCE-68EC-4EDF-B2DC-DC0FF01B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RETO ABP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BC5CB-420E-4442-AFDE-3D873056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pregunta de nuestro contexto guía el proyecto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9C37B-CA5A-470E-B9DB-9B433CD2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0D7EA8-B748-4DB0-BB54-328DD39F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07442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D4753-0FBA-44C4-B0FC-2F9D8724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33600"/>
            <a:ext cx="99441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¿Cómo diseñar y validar una solución electrónica de baja tensión que ayude a medir, alertar o controlar una condición relacionada con el uso eficiente de energía o agua en Barranquilla y la región Caribe?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A1418-7C69-4929-BAF4-0ED77809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06A19-DD20-45F2-96EA-E66494AC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B8145-231F-420F-BF8B-F7C82BE5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07FCD0-B190-4410-A1E9-AC3AD3E3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alertar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A4F998-D780-4DFE-A3EB-D9A14D9F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E83A5E-1B4C-4C31-A03B-633C6F47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controlar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F2D7C-696B-4C8B-A170-1FE3E687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4815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2353C-76A0-40EF-9EBC-B280F622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9577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validar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E5B8C7-7369-4B4F-B77F-CCE823D7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19700"/>
            <a:ext cx="88011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501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No buscamos un proyecto por cumplir: buscamos evidencia de una decisión técnica.</a:t>
            </a:r>
          </a:p>
        </p:txBody>
      </p:sp>
    </p:spTree>
    <p:extLst>
      <p:ext uri="{BB962C8B-B14F-4D97-AF65-F5344CB8AC3E}">
        <p14:creationId xmlns:p14="http://schemas.microsoft.com/office/powerpoint/2010/main" val="7301262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10532F-8246-4C39-84B6-CFFBFC1D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DIAGNÓSTICO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EE599-F57F-4F3F-A67C-49C85183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diagnóstico muestra desde dónde comenzamos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00FF0-1FC9-4685-8F14-29CBDF1B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1A9B9-A3E9-4A69-8E6D-A5689E57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1087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No es una prueba para castigar vacíos. Es la evidencia que necesitamos para decidir qué reforzar antes de entrar a semiconductores.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1EF34-67CD-44BE-97AF-67AEC24D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EFD8D-A567-418A-9FFC-1A4867E2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6F5FF-D416-4B55-ABD1-8051F92C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128F4-663A-4F18-82E2-2E8C9A4E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Ohm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8FB86-4ED4-4FD2-AD41-AC52C43B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Relacionar voltaje, corriente y resistencia.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17206-CFF9-473E-AB5B-A030BAFC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807CFF-935C-4F6B-8702-30A0C652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56BFA7-C0B2-4131-95AD-9769C695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D4286-5D8F-4456-8AE9-DF64EBEE5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Kirchhoff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8FFBF-8FD2-4F7B-848C-6447F7A0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Plantear nodos y mallas sin perder signos ni referencias.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34E622-C083-4CF9-9CB5-3E69EDF8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BB91DD-CD45-4AA8-BAD8-8F30C632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23EA9-CE06-4EB7-A804-9BC29DD2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DCBCC3-8786-4E6E-A099-3D95F7DB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85F9F-ACF2-4941-9AA4-90023776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Verificar disipación, consumo y selección de componentes.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AA4BC-D896-44CC-8BB2-008FBC63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1300"/>
            <a:ext cx="2524125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DDC1CE-709E-4676-9E84-077D76C2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CCE096-8B22-46FA-AE22-09BC8DDE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9718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022E9-968C-4241-8DC4-A0EBB509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952750"/>
            <a:ext cx="15335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Medición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6B09B1-4E49-4F23-BAA3-70796514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562350"/>
            <a:ext cx="2105025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Elegir función, escala y conexión segura del multímetro.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32F2A0-7FC1-4B47-8C1C-86B2A6A0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562600"/>
            <a:ext cx="8458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421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Resultado esperado: cada estudiante identifica dos fortalezas y un aspecto por recuperar.</a:t>
            </a:r>
          </a:p>
        </p:txBody>
      </p:sp>
    </p:spTree>
    <p:extLst>
      <p:ext uri="{BB962C8B-B14F-4D97-AF65-F5344CB8AC3E}">
        <p14:creationId xmlns:p14="http://schemas.microsoft.com/office/powerpoint/2010/main" val="16210181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C06254-B07D-4CD6-955F-E4AA98C3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7AB73F-0F82-4384-ADE1-B26A807B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Cuatro magnitudes explican el comportamiento del circuito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4F7CE-E068-4313-9EE9-0B76A3AD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53D24-24A6-41B2-A093-1A6BBAFC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49A798-931B-4CEF-970B-391997DC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C915C-49C0-4576-AD54-D0B801B1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C9A65-1C43-4F48-8647-51693E5E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6215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Voltaje · 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7D26E-009C-482B-B2E5-4CA3E65D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Diferencia de potencial que impulsa el movimiento de carga.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985F5-B028-4470-89E5-48E953A5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9070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751B5-5084-4BE0-84F4-1A0E898E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50142-FB14-474C-A1BD-69D2F5C4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BFD01D-670B-413D-9F30-06912DE4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6215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Corriente ·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1428C6-666B-4D25-9251-5705588D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Flujo de carga que atraviesa una rama del circuito.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E62473-3B94-4DF8-99D8-0B65CB88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B2B06-737E-4E86-8A29-90F5A216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3BFFE-2ED4-486E-8CDE-CFA6C86D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E659DE-0FB7-45DC-BB85-F2F1866E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Resistencia · 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2DD3AA-C477-468E-AC5C-5C6C8E3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Oposición al paso de corriente y elemento de control de polarización.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02D7B7-E40A-4265-B21D-AE8D1D05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905250"/>
            <a:ext cx="5143500" cy="17526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067F2-EB21-4B78-ACE7-63DF45B6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59DEDD-FEA1-4A6F-9FEA-F2081802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95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24286D-177E-4546-866C-4CEAAB69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4152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Potencia · 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F83E27-9C3F-43E9-92F0-3C7BB36E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86300"/>
            <a:ext cx="472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Rapidez con la que un elemento entrega o disipa energía.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F04C91-873F-4A29-9341-ACA15298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105150"/>
            <a:ext cx="23431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V = I·R</a:t>
            </a:r>
          </a:p>
        </p:txBody>
      </p:sp>
    </p:spTree>
    <p:extLst>
      <p:ext uri="{BB962C8B-B14F-4D97-AF65-F5344CB8AC3E}">
        <p14:creationId xmlns:p14="http://schemas.microsoft.com/office/powerpoint/2010/main" val="15311493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6A604C-7143-4D97-8D1B-DCB3ACA2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EJEMPLO GUIADO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FC7C4-2FC1-42F7-9929-647A8628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La Ley de Ohm convierte una condición en cálculo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0A71E-51C7-4AB1-8FD5-06762AF4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102B6-8F35-49B9-8089-0CE37B67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46863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0B869-60AB-47A8-9950-844E88C6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52650"/>
            <a:ext cx="4000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fuente de 12 V alimenta una resistencia de 1 kΩ.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1524000" y="3752850"/>
            <a:ext cx="2724150" cy="953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00A7C7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C0CF6-132F-4E2F-9433-776D062B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2425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19050">
            <a:solidFill>
              <a:srgbClr val="F4A62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6D8876-1C32-4244-9B9F-02D62DB7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524250"/>
            <a:ext cx="704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1 kΩ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2A2DD5-3BD7-4FCF-A6D5-E4D4A809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43300"/>
            <a:ext cx="666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12 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E90FE-63BB-44F4-915F-D304E269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28800"/>
            <a:ext cx="56007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B262C1-74DC-4689-9445-B802659A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90750"/>
            <a:ext cx="44196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 = V / 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B14EE-751B-4E32-B2D8-2E622955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45339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 = 12 V / 1000 Ω = 0,012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02BDE-F5F2-4E69-A534-052892A5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3581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I = 12 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CB595A-9155-43B5-B347-EBD16302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62500"/>
            <a:ext cx="4419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Comprobación: P = V·I = 0,144 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DD97B-AC91-4038-9C1C-AED8A2A2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800725"/>
            <a:ext cx="695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94C4C"/>
                </a:solidFill>
                <a:latin typeface="Aptos"/>
                <a:ea typeface="Aptos"/>
                <a:cs typeface="Aptos"/>
              </a:defRPr>
            </a:pPr>
            <a:r>
              <a:t>Pregunta: ¿sería segura una resistencia de 1/8 W?</a:t>
            </a:r>
          </a:p>
        </p:txBody>
      </p:sp>
    </p:spTree>
    <p:extLst>
      <p:ext uri="{BB962C8B-B14F-4D97-AF65-F5344CB8AC3E}">
        <p14:creationId xmlns:p14="http://schemas.microsoft.com/office/powerpoint/2010/main" val="11784801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CE5F8A-FB5E-4681-B934-C9756119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FUNDAMENTOS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F1833-D0A8-4808-B5B2-79A04B3B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Kirchhoff comprueba que el circuito conserva carga y energía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72282-ADED-41AE-992F-6432F274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2A615-0DE9-41EF-9C2C-4A438307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2578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38356-2C9F-4CAE-A894-01F4363B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095500"/>
            <a:ext cx="4629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Ley de corrientes · nodo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A7280-5657-4799-A640-E2EB750C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1714500" y="2971800"/>
            <a:ext cx="1209675" cy="5429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3438525" y="2857500"/>
            <a:ext cx="99060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3438525" y="3886200"/>
            <a:ext cx="99060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0273A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DAC73-5C72-4211-A912-88045D83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241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5AF0B-A134-4012-B093-857E946F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6700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E3BC6-C6E7-412B-B4B0-48C28F45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38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I₃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0026A5-670E-4D7B-91AD-4E37CFE4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426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Σ I que entra = Σ I que sale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E5AB31-3890-4270-ADF4-8DBDCB16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578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C97F1-3B55-4F80-B92D-8CC0A0E1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95500"/>
            <a:ext cx="461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Ley de voltajes · malla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2E57D-6DE7-496F-B322-C865E8EE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48000"/>
            <a:ext cx="27051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5E1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4EEBDD-C799-48A6-AFB2-DE85B88F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1143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+  Vₛ  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2ABD2F-ACB2-4F8E-923F-8C8D40C5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71775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E96269-640D-4E02-937E-A7D34913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581400"/>
            <a:ext cx="666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83AAE7-5F2C-4B58-ABD1-ED4E128E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5E1F1"/>
                </a:solidFill>
                <a:latin typeface="Aptos"/>
                <a:ea typeface="Aptos"/>
                <a:cs typeface="Aptos"/>
              </a:defRPr>
            </a:pPr>
            <a:r>
              <a:t>Σ V = 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B3B6FE-7A09-41EF-B7D4-C621C0F7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53125"/>
            <a:ext cx="857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Primero defina sentidos y polaridades; después escriba las ecuaciones.</a:t>
            </a:r>
          </a:p>
        </p:txBody>
      </p:sp>
    </p:spTree>
    <p:extLst>
      <p:ext uri="{BB962C8B-B14F-4D97-AF65-F5344CB8AC3E}">
        <p14:creationId xmlns:p14="http://schemas.microsoft.com/office/powerpoint/2010/main" val="19154139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769B59-2214-4D8E-A8AD-6D229575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INSTRUMENTACIÓN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9E5AA-6CED-463A-A087-8A9849C8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Medir bien también es diseñar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514E4-7524-4825-B4EE-6A1102FD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3431A-EA37-4363-A6D0-D3F634D6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3333750" cy="31242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816E1F-61DA-4501-A8CE-390CA2C7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6BCE3-B6D9-4DD0-B041-054C89F3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4CB9C-B3FD-494D-8ADE-A6669213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62150"/>
            <a:ext cx="2343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Voltaje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CFFE89-D216-4697-9FCE-66EF9852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914650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Conecte el multímetro en paralelo. Seleccione AC o DC según la señal. Identifique primero la referencia del circuito.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A8F856-0454-4658-A86A-AC037DCF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90700"/>
            <a:ext cx="3333750" cy="31242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B4E52-8D22-4B42-9614-DF347420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4832A5-FD36-454D-8957-A85E4102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091CA-7EA2-46BC-955A-C712DFDD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962150"/>
            <a:ext cx="2343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Corriente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C6E3E-F0C3-4CA0-A2E3-E9410E5A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71750"/>
            <a:ext cx="2914650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Abra la rama y conecte el instrumento en serie. Verifique terminal, rango y fusible antes de energizar.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CD64B8-104B-4F8C-AAD9-13FC13F2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3333750" cy="31242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6C5FF0-1907-42E6-9619-1D25AF60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AFC5AB-F936-4A70-AB1E-B46C885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2D56EA-CC8C-438C-B1D3-2E8DAF1A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962150"/>
            <a:ext cx="23431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Resistencia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09D83-E55D-44A4-8804-29DC6CB1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71750"/>
            <a:ext cx="2914650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Desenergice el circuito. Descargue capacitores y, si es necesario, aísle el componente.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ACDDD-776C-40C1-A955-FF9E3168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314950"/>
            <a:ext cx="86296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4A62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B97109-A32E-4EDA-B71E-5B46C6F5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67350"/>
            <a:ext cx="8001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Regla de oro: si no está seguro de la conexión, no energice el montaje.</a:t>
            </a:r>
          </a:p>
        </p:txBody>
      </p:sp>
    </p:spTree>
    <p:extLst>
      <p:ext uri="{BB962C8B-B14F-4D97-AF65-F5344CB8AC3E}">
        <p14:creationId xmlns:p14="http://schemas.microsoft.com/office/powerpoint/2010/main" val="13949058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658CB-ACA2-4FDF-BCE6-04B037CD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PUENTE HACIA ELECTRÓNICA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26866B-F3E7-49F8-A788-82FFD52E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Una señal transporta información</a:t>
            </a:r>
          </a:p>
        </p:txBody>
      </p:sp>
      <p:cxnSp>
        <p:nvCxnSpPr>
          <p:cNvPr id="16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B7654-5825-4BCF-B36E-DDF6C5FE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d67fbe71fa42c7"/>
          <a:stretch xmlns:a="http://schemas.openxmlformats.org/drawingml/2006/main"/>
        </p:blipFill>
        <p:spPr>
          <a:xfrm xmlns:a="http://schemas.openxmlformats.org/drawingml/2006/main">
            <a:off x="3016250" y="1657350"/>
            <a:ext cx="6159500" cy="36957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4E4C6-1A6F-43BF-ACB7-CFC87485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DF6FA"/>
          </a:solidFill>
          <a:ln xmlns:a="http://schemas.openxmlformats.org/drawingml/2006/main" w="9525">
            <a:solidFill>
              <a:srgbClr val="DDF6F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DEDFA4-1516-4548-9A00-ABF2B4FD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Amplitud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FC9975-7AAC-4319-B60B-EDB429F9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FFF4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D1800-4064-4516-BBF4-BBC6D7D8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Tiempo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DA77F2-A284-4DC6-9F51-FE799AF1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00700"/>
            <a:ext cx="1714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3F5EB"/>
          </a:solidFill>
          <a:ln xmlns:a="http://schemas.openxmlformats.org/drawingml/2006/main" w="9525">
            <a:solidFill>
              <a:srgbClr val="E3F5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BA6F6-4A04-4728-9722-4B3ED47F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648325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Frecuencia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D8AF5-07FC-421B-BFE9-DB52A63C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00700"/>
            <a:ext cx="2095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7E9FA"/>
          </a:solidFill>
          <a:ln xmlns:a="http://schemas.openxmlformats.org/drawingml/2006/main" w="9525">
            <a:solidFill>
              <a:srgbClr val="E7E9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06E113-FF51-425E-A3BD-9DF93465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648325"/>
            <a:ext cx="190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Nivel lógico</a:t>
            </a:r>
          </a:p>
        </p:txBody>
      </p:sp>
    </p:spTree>
    <p:extLst>
      <p:ext uri="{BB962C8B-B14F-4D97-AF65-F5344CB8AC3E}">
        <p14:creationId xmlns:p14="http://schemas.microsoft.com/office/powerpoint/2010/main" val="225482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C37C43-6EC0-4E35-B50A-966D3013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TRABAJO EN EQUIPO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213C8-731D-4227-8BE4-4F4C0E5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Los equipos trabajan juntos, pero cada aporte cuenta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E0779-9F52-47E4-9EE2-D37CF2AB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AD281-CCF1-4F6E-A7AD-727E5F44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9D509-E299-4EBA-9CD4-988AD3BE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432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4703F-3016-40C4-93F4-1BB75C16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1432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7EE75-7B4D-4AA1-9BA7-0101C58F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765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DCECB-A5A2-476C-BCF6-995F9AF8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62375"/>
            <a:ext cx="195262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estudiantes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FD3A6-E7B7-4E37-A62F-D0B8E0DF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8595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3E992-5EA3-49E7-8F6A-0953C80C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76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08D320-AB68-477B-B1A9-40BF219D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764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FF738-C0B6-46CE-8A0C-2E44E57E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Roles rotativos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B04CC-9E85-4028-AE7C-BA8702F3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6700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Montaje y seguridad · medición y datos · análisis y documentación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43870E-8D8A-462D-9E4C-F3AFD6E6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10F35-56CF-4A7D-981C-1554F097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2CDCF0-55C2-4C07-8417-1B64C738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73C8E-51A0-43D5-A5C6-17377539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52425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Tres evidencias en laboratorio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6DFC9-09A8-4709-9E94-20ED356B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3385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Preinforme y trabajo en clase 30% · informe completo 40% · aporte individual 30%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D036E-9A5F-4DA4-9F90-997CB906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1965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96C595-5E17-4EA0-9C6A-8249A24A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B5B4A1-2432-4CAE-9510-BB42A3AD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C72AF8-719A-4EA1-A7B2-B156CC14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91100"/>
            <a:ext cx="5676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Sustentación individual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088E28-E497-4FEA-B606-FAC0A40E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00700"/>
            <a:ext cx="6248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Cada integrante debe explicar las decisiones técnicas y el trabajo que realizó.</a:t>
            </a:r>
          </a:p>
        </p:txBody>
      </p:sp>
    </p:spTree>
    <p:extLst>
      <p:ext uri="{BB962C8B-B14F-4D97-AF65-F5344CB8AC3E}">
        <p14:creationId xmlns:p14="http://schemas.microsoft.com/office/powerpoint/2010/main" val="20330786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DB4671-B8AA-4782-A601-50FC8AC0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RUTA ABP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50E90-CC5D-42D4-84C3-A711F559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El primer avance será una etapa AC/DC segura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5789CA-0DD6-4533-B15C-333946A9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A87B9-A03F-473A-B7D7-255389BA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24574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F08C5-23B8-44B9-97EC-13DAB3F7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ED4859-6C30-476F-8BE6-785F5CAF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04F16-09CA-41C1-86BA-822B0ECF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71700"/>
            <a:ext cx="1466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Transformar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CDAE8-982E-4A93-BDEC-A72E9369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2038350" cy="139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Trabajar con baja tensión proveniente de transformador o fuente de laboratorio.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778913-F22A-48D4-8412-B1814013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00250"/>
            <a:ext cx="24574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3A5304-A2E7-4E97-9749-F8B219C8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90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BD575-C07A-43C7-8FDC-4006F4E5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90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988165-E3B6-4894-A73E-1073A093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171700"/>
            <a:ext cx="1466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Rectificar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D3542-1D93-4B63-B95E-9CB37653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81300"/>
            <a:ext cx="2038350" cy="139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Convertir la señal alterna en una salida de polaridad definida.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7312C-66D6-4FFB-AF91-2F3F99A4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24574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766333-38F9-45A2-A340-5B412A6C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90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A15DE-1903-418D-8EC5-3D861907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90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D4199-97B0-47FD-AE93-FDA6DBF8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71700"/>
            <a:ext cx="1466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Filtrar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5768A-CC8C-439F-9771-44F48573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81300"/>
            <a:ext cx="2038350" cy="139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Reducir el rizado y observar el efecto de la carga.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E31D10-53AA-4111-AA70-CB1B333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000250"/>
            <a:ext cx="24574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EAEFB4-F2B6-43C8-9BD9-AF71B01B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190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8AE"/>
          </a:solidFill>
          <a:ln xmlns:a="http://schemas.openxmlformats.org/drawingml/2006/main" w="0">
            <a:solidFill>
              <a:srgbClr val="7768A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CCF37D-C767-4620-BB7A-D1A28636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19075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051920-3BC9-417F-86C4-8B39824A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171700"/>
            <a:ext cx="1466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Proteger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1A0C4F-E008-4C34-A429-58C3EAAA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781300"/>
            <a:ext cx="2038350" cy="139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Limitar condiciones anormales e indicar el estado de operación.</a:t>
            </a:r>
          </a:p>
        </p:txBody>
      </p:sp>
      <p:cxnSp>
        <p:nvCxnSpPr>
          <p:cNvPr id="51" name=""/>
          <p:cNvCxnSpPr/>
          <p:nvPr/>
        </p:nvCxnSpPr>
        <p:spPr>
          <a:xfrm xmlns:a="http://schemas.openxmlformats.org/drawingml/2006/main">
            <a:off x="1905000" y="4743450"/>
            <a:ext cx="8343900" cy="953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A7C7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E839C4-434B-4BE4-AA32-089FBC79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A2B"/>
                </a:solidFill>
                <a:latin typeface="Aptos"/>
                <a:ea typeface="Aptos"/>
                <a:cs typeface="Aptos"/>
              </a:defRPr>
            </a:pPr>
            <a:r>
              <a:t>Preproyecto 1: evidencia común, mediciones, simulación, fuente académica en otro idioma y mejoras después de la retroalimentación.</a:t>
            </a:r>
          </a:p>
        </p:txBody>
      </p:sp>
    </p:spTree>
    <p:extLst>
      <p:ext uri="{BB962C8B-B14F-4D97-AF65-F5344CB8AC3E}">
        <p14:creationId xmlns:p14="http://schemas.microsoft.com/office/powerpoint/2010/main" val="1369072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9A518E-6DDC-40CF-9916-B059CF03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3143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0A7C7"/>
                </a:solidFill>
                <a:latin typeface="Aptos"/>
                <a:ea typeface="Aptos"/>
                <a:cs typeface="Aptos"/>
              </a:defRPr>
            </a:pPr>
            <a:r>
              <a:t>SALIDA DE CLASE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782A60-7F5D-4790-82A8-697078E2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Cerramos con tres decisiones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533400" y="1447800"/>
            <a:ext cx="11125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7C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41C1C-3A1E-4847-8DD5-5EA4B918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D7809-BD9C-4359-92AA-7267119A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F0903-153B-4853-B0E8-32F6F9D9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C7"/>
          </a:solidFill>
          <a:ln xmlns:a="http://schemas.openxmlformats.org/drawingml/2006/main" w="0">
            <a:solidFill>
              <a:srgbClr val="00A7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8AB08-8BAF-4800-A55D-08D86850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D82C9-FAB8-4757-B3C9-82EFBFC4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ya domino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525F3-8345-46FA-93B4-88DBE7D2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Escriba un concepto o procedimiento que puede explicar con seguridad.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9FF3F-5907-4CCA-BCAE-D6094CDD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708103-9065-4DA1-AE8B-E86765AF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623"/>
          </a:solidFill>
          <a:ln xmlns:a="http://schemas.openxmlformats.org/drawingml/2006/main" w="0">
            <a:solidFill>
              <a:srgbClr val="F4A62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A2D67-B47C-4497-8143-8E9D79A2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5697C5-BEA2-4B92-844A-B68C6333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debo reforzar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E0B398-5BDF-45E9-8456-2FBC1682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Elija un vacío del diagnóstico y formule una acción concreta para recuperarlo.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A5559-5297-4526-916D-749926C2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05000"/>
            <a:ext cx="33528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E70E0-093A-42AD-8F67-99245DAF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A66F"/>
          </a:solidFill>
          <a:ln xmlns:a="http://schemas.openxmlformats.org/drawingml/2006/main" w="0">
            <a:solidFill>
              <a:srgbClr val="35A66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D82191-B1FC-4752-82D8-80AED77D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955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251CF-60E5-4128-95A7-6E646556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76450"/>
            <a:ext cx="2362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29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73A"/>
                </a:solidFill>
                <a:latin typeface="Aptos"/>
                <a:ea typeface="Aptos"/>
                <a:cs typeface="Aptos"/>
              </a:defRPr>
            </a:pPr>
            <a:r>
              <a:t>Lo que quiero investigar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E7E8A2-3380-45ED-B1E8-4FC656BE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86050"/>
            <a:ext cx="2933700" cy="1733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Proponga una condición local de energía o agua que podría medirse, alertarse o controlarse.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E66EFB-FC22-49F0-9162-79B011EC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143500"/>
            <a:ext cx="87249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071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5A97D0-817D-4746-B1D1-10C2F4D5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95900"/>
            <a:ext cx="8001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Próxima semana: diodos, rectificación, filtrado y regulación Zener.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F6A9E2-4379-4A2D-AE1C-ED86A166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210300"/>
            <a:ext cx="857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36B78"/>
                </a:solidFill>
                <a:latin typeface="Aptos"/>
                <a:ea typeface="Aptos"/>
                <a:cs typeface="Aptos"/>
              </a:defRPr>
            </a:pPr>
            <a:r>
              <a:t>Fuentes base: syllabus del curso · Boylestad y Nashelsky · Hayt, Kemmerly y Durbin</a:t>
            </a:r>
          </a:p>
        </p:txBody>
      </p:sp>
    </p:spTree>
    <p:extLst>
      <p:ext uri="{BB962C8B-B14F-4D97-AF65-F5344CB8AC3E}">
        <p14:creationId xmlns:p14="http://schemas.microsoft.com/office/powerpoint/2010/main" val="4383546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2026-07-19T18:37:03.3900000Z</dcterms:created>
  <dcterms:modified xsi:type="dcterms:W3CDTF">2026-07-19T18:37:03.3900000Z</dcterms:modified>
</coreProperties>
</file>