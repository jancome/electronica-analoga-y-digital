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830c10dfb14b78" /><Relationship Type="http://schemas.openxmlformats.org/officeDocument/2006/relationships/extended-properties" Target="/docProps/app.xml" Id="Rc693bfe5ec064c07" /><Relationship Type="http://schemas.openxmlformats.org/officeDocument/2006/relationships/officeDocument" Target="/ppt/presentation.xml" Id="R57853b3d34c840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e0cf7e6e364ea2"/>
  </p:sldMasterIdLst>
  <p:notesMasterIdLst>
    <p:notesMasterId xmlns:r="http://schemas.openxmlformats.org/officeDocument/2006/relationships" r:id="R52823d4c0bf148d9"/>
  </p:notesMasterIdLst>
  <p:sldIdLst>
    <p:sldId xmlns:r="http://schemas.openxmlformats.org/officeDocument/2006/relationships" id="256" r:id="R0bbf435a190b4b9a"/>
    <p:sldId xmlns:r="http://schemas.openxmlformats.org/officeDocument/2006/relationships" id="257" r:id="Rabdb4ee37ebc4b2d"/>
    <p:sldId xmlns:r="http://schemas.openxmlformats.org/officeDocument/2006/relationships" id="258" r:id="R062efbc2d44c4bfc"/>
    <p:sldId xmlns:r="http://schemas.openxmlformats.org/officeDocument/2006/relationships" id="259" r:id="R98b8d06793d042dc"/>
    <p:sldId xmlns:r="http://schemas.openxmlformats.org/officeDocument/2006/relationships" id="260" r:id="R489103a47d434492"/>
    <p:sldId xmlns:r="http://schemas.openxmlformats.org/officeDocument/2006/relationships" id="261" r:id="R3f1dd37652df474a"/>
    <p:sldId xmlns:r="http://schemas.openxmlformats.org/officeDocument/2006/relationships" id="262" r:id="R51e9a565b07f49ac"/>
    <p:sldId xmlns:r="http://schemas.openxmlformats.org/officeDocument/2006/relationships" id="263" r:id="Ree7f8e1fbd654a02"/>
    <p:sldId xmlns:r="http://schemas.openxmlformats.org/officeDocument/2006/relationships" id="264" r:id="R8d5389ad26c947f7"/>
    <p:sldId xmlns:r="http://schemas.openxmlformats.org/officeDocument/2006/relationships" id="265" r:id="R3670ea7783764636"/>
    <p:sldId xmlns:r="http://schemas.openxmlformats.org/officeDocument/2006/relationships" id="266" r:id="R22ba49059d184e29"/>
    <p:sldId xmlns:r="http://schemas.openxmlformats.org/officeDocument/2006/relationships" id="267" r:id="R0bf6ffca8ec54ca5"/>
    <p:sldId xmlns:r="http://schemas.openxmlformats.org/officeDocument/2006/relationships" id="268" r:id="R92465bca5afc4937"/>
    <p:sldId xmlns:r="http://schemas.openxmlformats.org/officeDocument/2006/relationships" id="269" r:id="Rf788127172374437"/>
    <p:sldId xmlns:r="http://schemas.openxmlformats.org/officeDocument/2006/relationships" id="270" r:id="Rb978bc1a61324abe"/>
    <p:sldId xmlns:r="http://schemas.openxmlformats.org/officeDocument/2006/relationships" id="271" r:id="R09c489514b8845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e369837bfb4c5b" /><Relationship Type="http://schemas.openxmlformats.org/officeDocument/2006/relationships/slideMaster" Target="/ppt/slideMasters/slideMaster1.xml" Id="R79e0cf7e6e364ea2" /><Relationship Type="http://schemas.openxmlformats.org/officeDocument/2006/relationships/notesMaster" Target="/ppt/notesMasters/notesMaster1.xml" Id="R52823d4c0bf148d9" /><Relationship Type="http://schemas.openxmlformats.org/officeDocument/2006/relationships/presProps" Target="/ppt/presProps.xml" Id="Rb49ad1c021ed41b5" /><Relationship Type="http://schemas.openxmlformats.org/officeDocument/2006/relationships/viewProps" Target="/ppt/viewProps.xml" Id="Rf9f6200681664b47" /><Relationship Type="http://schemas.openxmlformats.org/officeDocument/2006/relationships/tableStyles" Target="/ppt/tableStyles.xml" Id="R1c8129cd099c411b" /><Relationship Type="http://schemas.openxmlformats.org/officeDocument/2006/relationships/slide" Target="/ppt/slides/slide1.xml" Id="R0bbf435a190b4b9a" /><Relationship Type="http://schemas.openxmlformats.org/officeDocument/2006/relationships/slide" Target="/ppt/slides/slide2.xml" Id="Rabdb4ee37ebc4b2d" /><Relationship Type="http://schemas.openxmlformats.org/officeDocument/2006/relationships/slide" Target="/ppt/slides/slide3.xml" Id="R062efbc2d44c4bfc" /><Relationship Type="http://schemas.openxmlformats.org/officeDocument/2006/relationships/slide" Target="/ppt/slides/slide4.xml" Id="R98b8d06793d042dc" /><Relationship Type="http://schemas.openxmlformats.org/officeDocument/2006/relationships/slide" Target="/ppt/slides/slide5.xml" Id="R489103a47d434492" /><Relationship Type="http://schemas.openxmlformats.org/officeDocument/2006/relationships/slide" Target="/ppt/slides/slide6.xml" Id="R3f1dd37652df474a" /><Relationship Type="http://schemas.openxmlformats.org/officeDocument/2006/relationships/slide" Target="/ppt/slides/slide7.xml" Id="R51e9a565b07f49ac" /><Relationship Type="http://schemas.openxmlformats.org/officeDocument/2006/relationships/slide" Target="/ppt/slides/slide8.xml" Id="Ree7f8e1fbd654a02" /><Relationship Type="http://schemas.openxmlformats.org/officeDocument/2006/relationships/slide" Target="/ppt/slides/slide9.xml" Id="R8d5389ad26c947f7" /><Relationship Type="http://schemas.openxmlformats.org/officeDocument/2006/relationships/slide" Target="/ppt/slides/slide10.xml" Id="R3670ea7783764636" /><Relationship Type="http://schemas.openxmlformats.org/officeDocument/2006/relationships/slide" Target="/ppt/slides/slide11.xml" Id="R22ba49059d184e29" /><Relationship Type="http://schemas.openxmlformats.org/officeDocument/2006/relationships/slide" Target="/ppt/slides/slide12.xml" Id="R0bf6ffca8ec54ca5" /><Relationship Type="http://schemas.openxmlformats.org/officeDocument/2006/relationships/slide" Target="/ppt/slides/slide13.xml" Id="R92465bca5afc4937" /><Relationship Type="http://schemas.openxmlformats.org/officeDocument/2006/relationships/slide" Target="/ppt/slides/slide14.xml" Id="Rf788127172374437" /><Relationship Type="http://schemas.openxmlformats.org/officeDocument/2006/relationships/slide" Target="/ppt/slides/slide15.xml" Id="Rb978bc1a61324abe" /><Relationship Type="http://schemas.openxmlformats.org/officeDocument/2006/relationships/slide" Target="/ppt/slides/slide16.xml" Id="R09c489514b8845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aa6651b2b046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1c74e965f54807" /><Relationship Type="http://schemas.openxmlformats.org/officeDocument/2006/relationships/notesMaster" Target="/ppt/notesMasters/notesMaster1.xml" Id="R94c6887ba16743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3460a74db3461e" /><Relationship Type="http://schemas.openxmlformats.org/officeDocument/2006/relationships/notesMaster" Target="/ppt/notesMasters/notesMaster1.xml" Id="Rb86c4e5b11ae41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e18f04af954600" /><Relationship Type="http://schemas.openxmlformats.org/officeDocument/2006/relationships/notesMaster" Target="/ppt/notesMasters/notesMaster1.xml" Id="Rc5662825080349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2ac09e541a4b89" /><Relationship Type="http://schemas.openxmlformats.org/officeDocument/2006/relationships/notesMaster" Target="/ppt/notesMasters/notesMaster1.xml" Id="Rbc7d7f06c5554e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b4895d14a54745" /><Relationship Type="http://schemas.openxmlformats.org/officeDocument/2006/relationships/notesMaster" Target="/ppt/notesMasters/notesMaster1.xml" Id="Rf23d4c0aa4fd4c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ad2ceecf9b49e1" /><Relationship Type="http://schemas.openxmlformats.org/officeDocument/2006/relationships/notesMaster" Target="/ppt/notesMasters/notesMaster1.xml" Id="R68b40aceac1f4f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b496c4f23846ac" /><Relationship Type="http://schemas.openxmlformats.org/officeDocument/2006/relationships/notesMaster" Target="/ppt/notesMasters/notesMaster1.xml" Id="R53db22a18dca4d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82ae526b6e49a6" /><Relationship Type="http://schemas.openxmlformats.org/officeDocument/2006/relationships/notesMaster" Target="/ppt/notesMasters/notesMaster1.xml" Id="Rf7e6c903a5174c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8cea55fc3d4799" /><Relationship Type="http://schemas.openxmlformats.org/officeDocument/2006/relationships/notesMaster" Target="/ppt/notesMasters/notesMaster1.xml" Id="R1dc07bba51114e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336f215e354e49" /><Relationship Type="http://schemas.openxmlformats.org/officeDocument/2006/relationships/notesMaster" Target="/ppt/notesMasters/notesMaster1.xml" Id="R3da0185cd4334b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aa77c3f953461a" /><Relationship Type="http://schemas.openxmlformats.org/officeDocument/2006/relationships/notesMaster" Target="/ppt/notesMasters/notesMaster1.xml" Id="R2e2ec036ba6c4ca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d91f8853db4581" /><Relationship Type="http://schemas.openxmlformats.org/officeDocument/2006/relationships/notesMaster" Target="/ppt/notesMasters/notesMaster1.xml" Id="R3fbc47c66ff648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111daa25e94acf" /><Relationship Type="http://schemas.openxmlformats.org/officeDocument/2006/relationships/notesMaster" Target="/ppt/notesMasters/notesMaster1.xml" Id="R7b51b7486b9b40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3b2456b2ab4538" /><Relationship Type="http://schemas.openxmlformats.org/officeDocument/2006/relationships/notesMaster" Target="/ppt/notesMasters/notesMaster1.xml" Id="R67e9f234e20645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99bec5ce934c4e" /><Relationship Type="http://schemas.openxmlformats.org/officeDocument/2006/relationships/notesMaster" Target="/ppt/notesMasters/notesMaster1.xml" Id="R1775b9bdc71e412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ae3431b80f44ec" /><Relationship Type="http://schemas.openxmlformats.org/officeDocument/2006/relationships/notesMaster" Target="/ppt/notesMasters/notesMaster1.xml" Id="Re449d30cd1bb48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 PASA CUANDO COLOCAMOS UN DIODO, UN ZENER O  UN TRANSISTOR BJT O UN MOSFET?</a:t>
            </a:r>
          </a:p>
          <a:p xmlns:a="http://schemas.openxmlformats.org/drawingml/2006/main"/>
          <a:p xmlns:a="http://schemas.openxmlformats.org/drawingml/2006/main">
            <a:r>
              <a:t>QUE PODEMOS HACER CON ESTOS ELEMENTOS?</a:t>
            </a:r>
          </a:p>
          <a:p xmlns:a="http://schemas.openxmlformats.org/drawingml/2006/main"/>
          <a:p xmlns:a="http://schemas.openxmlformats.org/drawingml/2006/main">
            <a:r>
              <a:t>ADICIONAL QUE HACE UNA COMPUERTA LOGICA PARA QUE ME SIRVE, QUE SOLUCION ME BRINDA, COMO PUEDO UNIR TODOS ESTOS ELEMENTOS PARA BUSCAR UNA SOLUCION ELECTRONICA A UN PROBLEMA Y MAS IMPORTANTE AUN COMO PUEDO ENTENER SU FUNCIOAMIENTO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PARA ELLO NECESITAMOS DIAGNOSTICAR Y SABER DONDE ESTAN SUS FORTALEZAS HACER UN BREVE REFUERZO PARA ENTRAR A LA PARTE QUE NECESITAMOS. QUE ES LA ELECTRONICA BASICA PARA USTEDES COMO INGENIEROS ELECTRICOS. QUE ES LA ELECTRONICA ANALOGA Y DIGITAL.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6839fadd9e44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19d862f694408c" /><Relationship Type="http://schemas.openxmlformats.org/officeDocument/2006/relationships/slideLayout" Target="/ppt/slideLayouts/slideLayout1.xml" Id="Rb8bc462c576241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bc462c576241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ca0522b6d47f7" /><Relationship Type="http://schemas.openxmlformats.org/officeDocument/2006/relationships/image" Target="/ppt/media/image.jpeg" Id="R2f7b048ffe004b36" /><Relationship Type="http://schemas.openxmlformats.org/officeDocument/2006/relationships/notesSlide" Target="/ppt/notesSlides/notesSlide1.xml" Id="R7fe99bac80ff4e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39e9e3aec468a" /><Relationship Type="http://schemas.openxmlformats.org/officeDocument/2006/relationships/image" Target="/ppt/media/image2.jpeg" Id="R74e40618279043bc" /><Relationship Type="http://schemas.openxmlformats.org/officeDocument/2006/relationships/notesSlide" Target="/ppt/notesSlides/notesSlide2.xml" Id="R2cb22844147a4e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1e14286804cdb" /><Relationship Type="http://schemas.openxmlformats.org/officeDocument/2006/relationships/notesSlide" Target="/ppt/notesSlides/notesSlide3.xml" Id="Re2eff53ea1e24b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82347ce584239" /><Relationship Type="http://schemas.openxmlformats.org/officeDocument/2006/relationships/image" Target="/ppt/media/image3.jpeg" Id="R23f55c26be584920" /><Relationship Type="http://schemas.openxmlformats.org/officeDocument/2006/relationships/notesSlide" Target="/ppt/notesSlides/notesSlide4.xml" Id="R00a709faf8654c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17519981745a8" /><Relationship Type="http://schemas.openxmlformats.org/officeDocument/2006/relationships/notesSlide" Target="/ppt/notesSlides/notesSlide5.xml" Id="Rd290f3297b4d44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f02e43e99485c" /><Relationship Type="http://schemas.openxmlformats.org/officeDocument/2006/relationships/notesSlide" Target="/ppt/notesSlides/notesSlide6.xml" Id="R1c5e161fc2184c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4b77b088d4a3e" /><Relationship Type="http://schemas.openxmlformats.org/officeDocument/2006/relationships/notesSlide" Target="/ppt/notesSlides/notesSlide7.xml" Id="Rd26f7318fe0b4d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9a34fc24a4caf" /><Relationship Type="http://schemas.openxmlformats.org/officeDocument/2006/relationships/notesSlide" Target="/ppt/notesSlides/notesSlide8.xml" Id="R637103a063014d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2e1a8fd824c99" /><Relationship Type="http://schemas.openxmlformats.org/officeDocument/2006/relationships/notesSlide" Target="/ppt/notesSlides/notesSlide9.xml" Id="R6421a053bbf349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4f037356c4e69" /><Relationship Type="http://schemas.openxmlformats.org/officeDocument/2006/relationships/notesSlide" Target="/ppt/notesSlides/notesSlide10.xml" Id="R2d9f7450481448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3721811904c8f" /><Relationship Type="http://schemas.openxmlformats.org/officeDocument/2006/relationships/image" Target="/ppt/media/image4.jpeg" Id="Rf6bdac89f0cb463a" /><Relationship Type="http://schemas.openxmlformats.org/officeDocument/2006/relationships/notesSlide" Target="/ppt/notesSlides/notesSlide11.xml" Id="R24127730cb5e4a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e72a330274e7b" /><Relationship Type="http://schemas.openxmlformats.org/officeDocument/2006/relationships/image" Target="/ppt/media/image.png" Id="Rc316a755df134e94" /><Relationship Type="http://schemas.openxmlformats.org/officeDocument/2006/relationships/notesSlide" Target="/ppt/notesSlides/notesSlide12.xml" Id="R13cd763ab62343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cb8d886db44ec" /><Relationship Type="http://schemas.openxmlformats.org/officeDocument/2006/relationships/notesSlide" Target="/ppt/notesSlides/notesSlide13.xml" Id="Rc293d7462d134e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c1ab78abe450b" /><Relationship Type="http://schemas.openxmlformats.org/officeDocument/2006/relationships/image" Target="/ppt/media/image5.jpeg" Id="Rf0f20965f9b04532" /><Relationship Type="http://schemas.openxmlformats.org/officeDocument/2006/relationships/notesSlide" Target="/ppt/notesSlides/notesSlide14.xml" Id="Rc4fcd661ebd14a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0dc6bf3fa4ec2" /><Relationship Type="http://schemas.openxmlformats.org/officeDocument/2006/relationships/notesSlide" Target="/ppt/notesSlides/notesSlide15.xml" Id="R2846366469664e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b3207e93d4393" /><Relationship Type="http://schemas.openxmlformats.org/officeDocument/2006/relationships/image" Target="/ppt/media/image6.jpeg" Id="R83666f9fb00540a6" /><Relationship Type="http://schemas.openxmlformats.org/officeDocument/2006/relationships/notesSlide" Target="/ppt/notesSlides/notesSlide16.xml" Id="R75cfe7bb903144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ACB33276-25DD-4840-BBE4-5D0A570C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2" name="Imagen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7b048ffe004b36"/>
          <a:srcRect xmlns:a="http://schemas.openxmlformats.org/drawingml/2006/main" l="19688" t="0" r="196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0"/>
            <a:ext cx="59055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5D75F34B-921A-41C6-A3D4-C8738DB9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533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ELECTRÓNICA ANALÓGICA Y DIGITAL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9F7EAAB-E162-4892-A641-AD9C7656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542925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  <a:r>
              <a:t>, </a:t>
            </a:r>
            <a:r>
              <a:t>diagnóstico</a:t>
            </a:r>
            <a:r>
              <a:t> y </a:t>
            </a:r>
            <a:r>
              <a:t>reto</a:t>
            </a:r>
            <a:r>
              <a:t> ABP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DC22F39-42D2-4447-AC79-D4211183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5143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Semana 1 · Ingeniería Eléctrica · 2026-2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4E13A7A9-AE14-421F-BCAA-C0E6B4CC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4C129BD8-36CA-4073-B92C-6FE6137B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4857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Del circuito básico a una solución integrada de baja tensión.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1A4A30B5-7A97-403B-BB5F-AF573A2A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496050"/>
            <a:ext cx="4095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Foto: Mikasa2025 / Wikimedia Commons · CC BY 4.0</a:t>
            </a:r>
          </a:p>
        </p:txBody>
      </p:sp>
    </p:spTree>
    <p:extLst>
      <p:ext uri="{BB962C8B-B14F-4D97-AF65-F5344CB8AC3E}">
        <p14:creationId xmlns:p14="http://schemas.microsoft.com/office/powerpoint/2010/main" val="21099481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308272A3-6CE3-4FAA-8D6C-F67BA1A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INTRODUCCIÓN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76EF0A76-4E98-4819-A968-DF947F0B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ya traemos de circuitos</a:t>
            </a:r>
          </a:p>
        </p:txBody>
      </p:sp>
      <p:cxnSp>
        <p:nvCxnSpPr>
          <p:cNvPr id="24" name="Conector recto de flecha 19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F818C6D5-6142-469E-A289-BBEEA406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CE4E0F77-CB4A-4CA1-B85B-02878088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54864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141"/>
          </a:bodyPr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Antes de entrar a la electrónica analógica, recuperamos el lenguaje con el que ya analizamos circuitos eléctricos.</a:t>
            </a:r>
          </a:p>
        </p:txBody>
      </p:sp>
      <p:sp>
        <p:nvSpPr>
          <p:cNvPr id="6" name="Rectángulo redondeado 5">
            <a:extLst xmlns:a="http://schemas.openxmlformats.org/drawingml/2006/main">
              <a:ext uri="{FF2B5EF4-FFF2-40B4-BE49-F238E27FC236}">
                <a16:creationId xmlns:a16="http://schemas.microsoft.com/office/drawing/2014/main" id="{296453D2-D451-4C33-9B05-D3A7E069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E8C4994-E0A7-4204-8FC9-07BB4476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717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Ramas, nodos y mallas</a:t>
            </a:r>
          </a:p>
        </p:txBody>
      </p:sp>
      <p:sp>
        <p:nvSpPr>
          <p:cNvPr id="8" name="Rectángulo redondeado 7">
            <a:extLst xmlns:a="http://schemas.openxmlformats.org/drawingml/2006/main">
              <a:ext uri="{FF2B5EF4-FFF2-40B4-BE49-F238E27FC236}">
                <a16:creationId xmlns:a16="http://schemas.microsoft.com/office/drawing/2014/main" id="{90C4B893-EBC9-454B-BDBE-3796DD95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956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CA16A9F0-4A5F-406C-AD88-7BD4A6EB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32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Ohm y Kirchhoff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4CEE07D0-F1E3-446D-A14D-527272A2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671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1D78196A-791A-474A-A0BE-B23A5756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 y selección</a:t>
            </a:r>
          </a:p>
        </p:txBody>
      </p:sp>
      <p:sp>
        <p:nvSpPr>
          <p:cNvPr id="12" name="Rectángulo redondeado 11">
            <a:extLst xmlns:a="http://schemas.openxmlformats.org/drawingml/2006/main">
              <a:ext uri="{FF2B5EF4-FFF2-40B4-BE49-F238E27FC236}">
                <a16:creationId xmlns:a16="http://schemas.microsoft.com/office/drawing/2014/main" id="{18EE1E3E-ABC5-4E32-9FE0-E6903591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AA0361-C02D-4CD6-865C-04BD6C0C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862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Medición segura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9C442647-CA04-4E6D-B62F-66011862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Esta base permitirá explicar qué cambia cuando aparece un diodo, un transistor o una señal variable.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AB117544-2253-48F7-90BD-4E034402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52600"/>
            <a:ext cx="512445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n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40618279043bc"/>
          <a:stretch xmlns:a="http://schemas.openxmlformats.org/drawingml/2006/main"/>
        </p:blipFill>
        <p:spPr>
          <a:xfrm xmlns:a="http://schemas.openxmlformats.org/drawingml/2006/main">
            <a:off x="6705600" y="2208818"/>
            <a:ext cx="4743450" cy="2821365"/>
          </a:xfrm>
          <a:prstGeom xmlns:a="http://schemas.openxmlformats.org/drawingml/2006/main" prst="rect">
            <a:avLst/>
          </a:prstGeom>
        </p:spPr>
      </p:pic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EAC93C02-E012-49B7-B7AD-0D6B37B7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95950"/>
            <a:ext cx="474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Evan-Amos / Wikimedia Commons · dominio público</a:t>
            </a:r>
          </a:p>
        </p:txBody>
      </p:sp>
    </p:spTree>
    <p:extLst>
      <p:ext uri="{BB962C8B-B14F-4D97-AF65-F5344CB8AC3E}">
        <p14:creationId xmlns:p14="http://schemas.microsoft.com/office/powerpoint/2010/main" val="20032202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79C6948B-87E4-4723-8D2B-322CB16E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OBJETIVOS DE APRENDIZAJE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E305A3B8-2D2D-4ACB-8B8F-BD1ABB80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Al finalizar esta semana podrás…</a:t>
            </a:r>
          </a:p>
        </p:txBody>
      </p:sp>
      <p:cxnSp>
        <p:nvCxnSpPr>
          <p:cNvPr id="26" name="Conector recto de flecha 22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254DE34-E3F2-48CA-BAB9-CA452692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3DC34FAB-B0B4-4BBA-9A2D-C2538E92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33528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Elipse 5">
            <a:extLst xmlns:a="http://schemas.openxmlformats.org/drawingml/2006/main">
              <a:ext uri="{FF2B5EF4-FFF2-40B4-BE49-F238E27FC236}">
                <a16:creationId xmlns:a16="http://schemas.microsoft.com/office/drawing/2014/main" id="{C5BF75B4-A526-45CE-AF97-D2C15FF4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E578FF08-3377-4D70-9BBF-14CD4E4E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9DCFF5AB-AE27-4409-A0B8-DEEB3BE7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145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Diagnosticar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83783A77-046A-4883-937E-D08F808B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29337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Reconocer tus fortalezas y vacíos en circuitos, magnitudes eléctricas y medición.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57AF8E9F-8C94-4D79-B48A-F833694C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43100"/>
            <a:ext cx="33528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Elipse 10">
            <a:extLst xmlns:a="http://schemas.openxmlformats.org/drawingml/2006/main">
              <a:ext uri="{FF2B5EF4-FFF2-40B4-BE49-F238E27FC236}">
                <a16:creationId xmlns:a16="http://schemas.microsoft.com/office/drawing/2014/main" id="{D3B96EB5-F065-4BD9-B678-9F83FA27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33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F4AD95BA-D7C5-4374-8154-5A17DD92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336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BD565C0-D450-4D25-B7B6-0DEB4E2C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145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Explicar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58F625B5-B322-4511-A215-0AD8F7D5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24150"/>
            <a:ext cx="29337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Relacionar V, I, R y P con la señal del sensor y comprobar el comportamiento del montaje con instrumentos.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AA3F9989-B103-419E-BAA4-D39D56E0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43100"/>
            <a:ext cx="33528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C7E7C397-AFA8-41C0-A941-29E53974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B943E3F8-A5CE-4EB3-A576-B3556519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5C71E14-B90D-42AB-8ECB-3512D206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145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Formular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B8FA072D-234B-48B1-8477-7E075936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24150"/>
            <a:ext cx="29337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Convertir una necesidad de energía o agua del contexto local en una pregunta técnica para el proyecto ABP.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E57EF75E-678D-43CA-8282-6395886E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29250"/>
            <a:ext cx="8953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Evidencia de la semana: diagnóstico individual + primera formulación del reto del equipo.</a:t>
            </a:r>
          </a:p>
        </p:txBody>
      </p:sp>
    </p:spTree>
    <p:extLst>
      <p:ext uri="{BB962C8B-B14F-4D97-AF65-F5344CB8AC3E}">
        <p14:creationId xmlns:p14="http://schemas.microsoft.com/office/powerpoint/2010/main" val="6386461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ectángulo 25">
            <a:extLst xmlns:a="http://schemas.openxmlformats.org/drawingml/2006/main">
              <a:ext uri="{FF2B5EF4-FFF2-40B4-BE49-F238E27FC236}">
                <a16:creationId xmlns:a16="http://schemas.microsoft.com/office/drawing/2014/main" id="{23BE1600-3698-4141-A73F-1F36782A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DEMOSTRACIÓN INICIAL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DAD78FB8-980B-4AE0-9057-8BD2A941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Primero observamos; todavía no explicamos</a:t>
            </a:r>
          </a:p>
        </p:txBody>
      </p:sp>
      <p:cxnSp>
        <p:nvCxnSpPr>
          <p:cNvPr id="32" name="Conector recto de flecha 27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A3F1C8DC-8C28-48F6-B4B0-2167DF20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F68147CC-CDEC-4337-A931-ABBCD7E7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4483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Al cubrir el sensor, el LED cambia de estado. Al iluminarlo, vuelve a cambiar.</a:t>
            </a:r>
          </a:p>
        </p:txBody>
      </p:sp>
      <p:sp>
        <p:nvSpPr>
          <p:cNvPr id="6" name="Rectángulo redondeado 5">
            <a:extLst xmlns:a="http://schemas.openxmlformats.org/drawingml/2006/main">
              <a:ext uri="{FF2B5EF4-FFF2-40B4-BE49-F238E27FC236}">
                <a16:creationId xmlns:a16="http://schemas.microsoft.com/office/drawing/2014/main" id="{55F62583-9F64-4A79-975E-A96470C9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76550"/>
            <a:ext cx="54483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Elipse 6">
            <a:extLst xmlns:a="http://schemas.openxmlformats.org/drawingml/2006/main">
              <a:ext uri="{FF2B5EF4-FFF2-40B4-BE49-F238E27FC236}">
                <a16:creationId xmlns:a16="http://schemas.microsoft.com/office/drawing/2014/main" id="{040686EA-16E1-447D-BDDC-DA40A4C9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267ADF8B-AAF1-4CC6-BA9E-C0D9B249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?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0F877620-09AB-4A4A-BCF9-CCAAE37A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4457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¿Qué cambió?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CC18F030-111C-47D3-BF69-6E1621CA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44577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Separe la condición del entorno y la respuesta del circuito.</a:t>
            </a:r>
          </a:p>
        </p:txBody>
      </p:sp>
      <p:sp>
        <p:nvSpPr>
          <p:cNvPr id="11" name="Rectángulo redondeado 10">
            <a:extLst xmlns:a="http://schemas.openxmlformats.org/drawingml/2006/main">
              <a:ext uri="{FF2B5EF4-FFF2-40B4-BE49-F238E27FC236}">
                <a16:creationId xmlns:a16="http://schemas.microsoft.com/office/drawing/2014/main" id="{F3386BC2-B22F-4F6C-BF94-083A04E9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4483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BBA445EB-D4A6-45D2-86E2-DD6567E9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E5956FC4-61ED-4FEC-AD4A-A15B1AC3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?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B192F64B-0944-4C0F-97D4-9F9A2B85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86200"/>
            <a:ext cx="4457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¿Qué podríamos medir?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F4D6C445-EBBF-40C0-BA32-C33AD0DD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29100"/>
            <a:ext cx="44577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Proponga una variable y el punto donde conectaría el instrumento.</a:t>
            </a:r>
          </a:p>
        </p:txBody>
      </p:sp>
      <p:sp>
        <p:nvSpPr>
          <p:cNvPr id="16" name="Rectángulo redondeado 15">
            <a:extLst xmlns:a="http://schemas.openxmlformats.org/drawingml/2006/main">
              <a:ext uri="{FF2B5EF4-FFF2-40B4-BE49-F238E27FC236}">
                <a16:creationId xmlns:a16="http://schemas.microsoft.com/office/drawing/2014/main" id="{48AB9908-EB12-4997-B071-622656EE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54483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Elipse 16">
            <a:extLst xmlns:a="http://schemas.openxmlformats.org/drawingml/2006/main">
              <a:ext uri="{FF2B5EF4-FFF2-40B4-BE49-F238E27FC236}">
                <a16:creationId xmlns:a16="http://schemas.microsoft.com/office/drawing/2014/main" id="{04C5D535-6E3C-4862-B032-62050E52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80A3249C-A468-45FC-ADA9-BC50D65E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?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F1066436-1D13-4455-B8E6-64A4F399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4457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¿Dónde se toma la decisión?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E8431D7A-7487-45EA-81B1-22FE59A9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05400"/>
            <a:ext cx="44577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Identifique la entrada, el criterio y la salida.</a:t>
            </a:r>
          </a:p>
        </p:txBody>
      </p:sp>
      <p:sp>
        <p:nvSpPr>
          <p:cNvPr id="21" name="Rectángulo redondeado 20">
            <a:extLst xmlns:a="http://schemas.openxmlformats.org/drawingml/2006/main">
              <a:ext uri="{FF2B5EF4-FFF2-40B4-BE49-F238E27FC236}">
                <a16:creationId xmlns:a16="http://schemas.microsoft.com/office/drawing/2014/main" id="{3A129FA5-169F-45AC-912C-3A1058B4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4895850" cy="35814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n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f55c26be584920"/>
          <a:srcRect xmlns:a="http://schemas.openxmlformats.org/drawingml/2006/main" l="3137" t="0" r="31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43700" y="1924050"/>
            <a:ext cx="4552950" cy="3238500"/>
          </a:xfrm>
          <a:prstGeom xmlns:a="http://schemas.openxmlformats.org/drawingml/2006/main" prst="rect">
            <a:avLst/>
          </a:prstGeom>
        </p:spPr>
      </p:pic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3E8700E4-416C-41C8-8ACD-0D925806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448300"/>
            <a:ext cx="4552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Suyash Dwivedi / Wikimedia Commons · CC BY-SA 4.0</a:t>
            </a:r>
          </a:p>
        </p:txBody>
      </p:sp>
      <p:sp>
        <p:nvSpPr>
          <p:cNvPr id="24" name="Rectángulo redondeado 23">
            <a:extLst xmlns:a="http://schemas.openxmlformats.org/drawingml/2006/main">
              <a:ext uri="{FF2B5EF4-FFF2-40B4-BE49-F238E27FC236}">
                <a16:creationId xmlns:a16="http://schemas.microsoft.com/office/drawing/2014/main" id="{7DEC22CD-4B4A-412D-A6DD-66117010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810250"/>
            <a:ext cx="9486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C16D065E-3BFD-4AEE-A357-A23E1D73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886450"/>
            <a:ext cx="8877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Prediga individualmente → contraste con su equipo → mida antes de concluir</a:t>
            </a:r>
          </a:p>
        </p:txBody>
      </p:sp>
    </p:spTree>
    <p:extLst>
      <p:ext uri="{BB962C8B-B14F-4D97-AF65-F5344CB8AC3E}">
        <p14:creationId xmlns:p14="http://schemas.microsoft.com/office/powerpoint/2010/main" val="9696386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DEF262B7-5943-4681-AB71-AEDCACB7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DEL FENÓMENO AL SISTEMA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CFECB448-59CC-4F0C-AC2D-64E9F240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De la luz a una decisión electrónica</a:t>
            </a:r>
          </a:p>
        </p:txBody>
      </p:sp>
      <p:cxnSp>
        <p:nvCxnSpPr>
          <p:cNvPr id="44" name="Conector recto de flecha 36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693CD262-F379-4F09-9480-2ED31AB3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cxnSp>
        <p:nvCxnSpPr>
          <p:cNvPr id="46" name="Conector recto de flecha 38"/>
          <p:cNvCxnSpPr/>
          <p:nvPr/>
        </p:nvCxnSpPr>
        <p:spPr>
          <a:xfrm xmlns:a="http://schemas.openxmlformats.org/drawingml/2006/main">
            <a:off x="2819400" y="3181350"/>
            <a:ext cx="476250" cy="953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A7C7"/>
            </a:solidFill>
            <a:prstDash val="solid"/>
          </a:ln>
        </p:spPr>
      </p:cxnSp>
      <p:cxnSp>
        <p:nvCxnSpPr>
          <p:cNvPr id="47" name="Conector recto de flecha 39"/>
          <p:cNvCxnSpPr/>
          <p:nvPr/>
        </p:nvCxnSpPr>
        <p:spPr>
          <a:xfrm xmlns:a="http://schemas.openxmlformats.org/drawingml/2006/main">
            <a:off x="5581650" y="3181350"/>
            <a:ext cx="476250" cy="953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A7C7"/>
            </a:solidFill>
            <a:prstDash val="solid"/>
          </a:ln>
        </p:spPr>
      </p:cxnSp>
      <p:cxnSp>
        <p:nvCxnSpPr>
          <p:cNvPr id="48" name="Conector recto de flecha 40"/>
          <p:cNvCxnSpPr/>
          <p:nvPr/>
        </p:nvCxnSpPr>
        <p:spPr>
          <a:xfrm xmlns:a="http://schemas.openxmlformats.org/drawingml/2006/main">
            <a:off x="8343900" y="3181350"/>
            <a:ext cx="476250" cy="953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A7C7"/>
            </a:solidFill>
            <a:prstDash val="solid"/>
          </a:ln>
        </p:spPr>
      </p:cxnSp>
      <p:sp>
        <p:nvSpPr>
          <p:cNvPr id="8" name="Rectángulo redondeado 7">
            <a:extLst xmlns:a="http://schemas.openxmlformats.org/drawingml/2006/main">
              <a:ext uri="{FF2B5EF4-FFF2-40B4-BE49-F238E27FC236}">
                <a16:creationId xmlns:a16="http://schemas.microsoft.com/office/drawing/2014/main" id="{6E154F37-FD24-4244-BDA9-1CDAF1F5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2286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ángulo redondeado 8">
            <a:extLst xmlns:a="http://schemas.openxmlformats.org/drawingml/2006/main">
              <a:ext uri="{FF2B5EF4-FFF2-40B4-BE49-F238E27FC236}">
                <a16:creationId xmlns:a16="http://schemas.microsoft.com/office/drawing/2014/main" id="{2CFE4244-6734-440B-9CC1-33BD0053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2286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1909B6D4-5DF0-442B-AF9E-D25C3395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24100"/>
            <a:ext cx="2286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ectángulo redondeado 10">
            <a:extLst xmlns:a="http://schemas.openxmlformats.org/drawingml/2006/main">
              <a:ext uri="{FF2B5EF4-FFF2-40B4-BE49-F238E27FC236}">
                <a16:creationId xmlns:a16="http://schemas.microsoft.com/office/drawing/2014/main" id="{F750FDF5-9338-4D53-B79E-7D8A934E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24100"/>
            <a:ext cx="28194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11354FE-DFBE-4978-B2D7-A7FDF0AD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Elipse 12">
            <a:extLst xmlns:a="http://schemas.openxmlformats.org/drawingml/2006/main">
              <a:ext uri="{FF2B5EF4-FFF2-40B4-BE49-F238E27FC236}">
                <a16:creationId xmlns:a16="http://schemas.microsoft.com/office/drawing/2014/main" id="{7BCDF128-17AD-4A6F-B1C8-671E9323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52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Elipse 13">
            <a:extLst xmlns:a="http://schemas.openxmlformats.org/drawingml/2006/main">
              <a:ext uri="{FF2B5EF4-FFF2-40B4-BE49-F238E27FC236}">
                <a16:creationId xmlns:a16="http://schemas.microsoft.com/office/drawing/2014/main" id="{B2AA64F7-F444-44B2-BDC0-78328ACE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52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Elipse 14">
            <a:extLst xmlns:a="http://schemas.openxmlformats.org/drawingml/2006/main">
              <a:ext uri="{FF2B5EF4-FFF2-40B4-BE49-F238E27FC236}">
                <a16:creationId xmlns:a16="http://schemas.microsoft.com/office/drawing/2014/main" id="{FA67DB2F-9EF3-4350-85BB-CEF6EA68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52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BD290864-C8D6-420A-91CB-E481125D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9ABFD47E-C729-44DE-9386-D8EC69D3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5270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1BDA0516-E6E3-42D1-AFD8-A7F22455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5270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DDFF019D-B1AB-43FD-BF9A-D37274C3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5270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FE35F8C9-C095-4BCD-B476-1A124CD3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33650"/>
            <a:ext cx="1295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Condición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59D7B770-498F-4450-9F3C-80FE31A1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La iluminación cambia en el entorno.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63948A3E-5044-45BB-9665-DAB81520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533650"/>
            <a:ext cx="1295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Sensor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FCBB52D9-12BB-4FB5-8AAA-E4931754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0515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La LDR modifica el voltaje del divisor.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FE813F0F-53D6-4A92-BAF4-4FC35337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33650"/>
            <a:ext cx="1295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Decisión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5ECF9F1A-45DA-4CAC-852D-CF7C0704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0515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El LM393 compara Vsensor con Vref.</a:t>
            </a:r>
          </a:p>
        </p:txBody>
      </p:sp>
      <p:sp>
        <p:nvSpPr>
          <p:cNvPr id="26" name="Rectángulo 25">
            <a:extLst xmlns:a="http://schemas.openxmlformats.org/drawingml/2006/main">
              <a:ext uri="{FF2B5EF4-FFF2-40B4-BE49-F238E27FC236}">
                <a16:creationId xmlns:a16="http://schemas.microsoft.com/office/drawing/2014/main" id="{B0DD09AF-FE25-462C-8D16-B8C5506F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33650"/>
            <a:ext cx="161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Acción</a:t>
            </a:r>
          </a:p>
        </p:txBody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F4946C75-6EA5-45AA-BD75-247BE40C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05150"/>
            <a:ext cx="23431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La salida conmuta el LED y hace visible la decisión.</a:t>
            </a:r>
          </a:p>
        </p:txBody>
      </p:sp>
      <p:sp>
        <p:nvSpPr>
          <p:cNvPr id="28" name="Rectángulo redondeado 27">
            <a:extLst xmlns:a="http://schemas.openxmlformats.org/drawingml/2006/main">
              <a:ext uri="{FF2B5EF4-FFF2-40B4-BE49-F238E27FC236}">
                <a16:creationId xmlns:a16="http://schemas.microsoft.com/office/drawing/2014/main" id="{C0A8CF05-85A9-4A2E-8887-09C2F00F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29150"/>
            <a:ext cx="104013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AD18DC7-97BF-4099-8F12-D7780F0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29175"/>
            <a:ext cx="1581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ANALÓGICO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445D429D-0147-4128-91D9-3C694535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53025"/>
            <a:ext cx="2552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3918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Vsensor cambia continuamente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1B8A1EAA-7E1E-4EA0-ABD2-69781759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29175"/>
            <a:ext cx="1314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4A623"/>
                </a:solidFill>
                <a:latin typeface="Aptos"/>
                <a:ea typeface="Aptos"/>
                <a:cs typeface="Aptos"/>
              </a:defRPr>
            </a:pPr>
            <a:r>
              <a:t>DIGITAL</a:t>
            </a:r>
          </a:p>
        </p:txBody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B4BD2036-DAC0-45EB-8147-5798D314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53025"/>
            <a:ext cx="2209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La salida conmuta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569943A-3877-446F-AD1F-BA13049D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29175"/>
            <a:ext cx="95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5A66F"/>
                </a:solidFill>
                <a:latin typeface="Aptos"/>
                <a:ea typeface="Aptos"/>
                <a:cs typeface="Aptos"/>
              </a:defRPr>
            </a:pPr>
            <a:r>
              <a:t>ABP</a:t>
            </a:r>
          </a:p>
        </p:txBody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67AB280-1AB1-4512-9D43-1E8D1E80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53025"/>
            <a:ext cx="37528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7719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La decisión responde a una necesidad y debe validarse</a:t>
            </a:r>
          </a:p>
        </p:txBody>
      </p:sp>
    </p:spTree>
    <p:extLst>
      <p:ext uri="{BB962C8B-B14F-4D97-AF65-F5344CB8AC3E}">
        <p14:creationId xmlns:p14="http://schemas.microsoft.com/office/powerpoint/2010/main" val="17486312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D178394E-2593-4AC9-9915-84A74CC2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RETO ABP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54176F17-3AC7-4691-BB9B-0DA92C56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pregunta de nuestro contexto guía el proyecto</a:t>
            </a:r>
          </a:p>
        </p:txBody>
      </p:sp>
      <p:cxnSp>
        <p:nvCxnSpPr>
          <p:cNvPr id="21" name="Conector recto de flecha 17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144BED38-9C50-4720-8B0D-1913FEB8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40115B8B-0627-4ADF-B6E7-82E5CF27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7442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A9E42290-AD3A-4A91-B935-4AC3DB7D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33600"/>
            <a:ext cx="99441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¿Cómo diseñar y validar una solución electrónica de baja tensión que ayude a medir, alertar o controlar una condición relacionada con el uso eficiente de energía o agua en Barranquilla y la región Caribe?</a:t>
            </a:r>
          </a:p>
        </p:txBody>
      </p:sp>
      <p:sp>
        <p:nvSpPr>
          <p:cNvPr id="7" name="Rectángulo redondeado 6">
            <a:extLst xmlns:a="http://schemas.openxmlformats.org/drawingml/2006/main">
              <a:ext uri="{FF2B5EF4-FFF2-40B4-BE49-F238E27FC236}">
                <a16:creationId xmlns:a16="http://schemas.microsoft.com/office/drawing/2014/main" id="{6E41DD37-93E0-4D7E-ABE4-9F1EA84E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EA1682CB-25C0-4C60-B8FF-3EC12235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medir</a:t>
            </a:r>
          </a:p>
        </p:txBody>
      </p:sp>
      <p:sp>
        <p:nvSpPr>
          <p:cNvPr id="9" name="Rectángulo redondeado 8">
            <a:extLst xmlns:a="http://schemas.openxmlformats.org/drawingml/2006/main">
              <a:ext uri="{FF2B5EF4-FFF2-40B4-BE49-F238E27FC236}">
                <a16:creationId xmlns:a16="http://schemas.microsoft.com/office/drawing/2014/main" id="{01B19EA3-0ABC-4D39-81E0-892687C9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CA295587-2306-4F6F-8462-8FEFF9EF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alertar</a:t>
            </a:r>
          </a:p>
        </p:txBody>
      </p:sp>
      <p:sp>
        <p:nvSpPr>
          <p:cNvPr id="11" name="Rectángulo redondeado 10">
            <a:extLst xmlns:a="http://schemas.openxmlformats.org/drawingml/2006/main">
              <a:ext uri="{FF2B5EF4-FFF2-40B4-BE49-F238E27FC236}">
                <a16:creationId xmlns:a16="http://schemas.microsoft.com/office/drawing/2014/main" id="{0F448B10-89FE-4F91-A05B-F31B6EDB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3B3374D6-7343-4A81-A455-961425D4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controlar</a:t>
            </a:r>
          </a:p>
        </p:txBody>
      </p:sp>
      <p:sp>
        <p:nvSpPr>
          <p:cNvPr id="13" name="Rectángulo redondeado 12">
            <a:extLst xmlns:a="http://schemas.openxmlformats.org/drawingml/2006/main">
              <a:ext uri="{FF2B5EF4-FFF2-40B4-BE49-F238E27FC236}">
                <a16:creationId xmlns:a16="http://schemas.microsoft.com/office/drawing/2014/main" id="{7A7D326D-8880-4FCB-88E2-EF643E49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026699D5-BB50-4452-BE2F-2B32F662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validar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847E92F7-B470-4F40-BDAF-E923AD49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19700"/>
            <a:ext cx="88011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501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No buscamos un proyecto por cumplir: buscamos evidencia de una decisión técnica.</a:t>
            </a:r>
          </a:p>
        </p:txBody>
      </p:sp>
    </p:spTree>
    <p:extLst>
      <p:ext uri="{BB962C8B-B14F-4D97-AF65-F5344CB8AC3E}">
        <p14:creationId xmlns:p14="http://schemas.microsoft.com/office/powerpoint/2010/main" val="11437391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E416EA90-310E-4160-B2C1-255A9E89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MICROSOFT FORMS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577E4927-7C66-4D03-A469-39F366A1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diagnóstico indica qué debemos reforzar</a:t>
            </a:r>
          </a:p>
        </p:txBody>
      </p:sp>
      <p:cxnSp>
        <p:nvCxnSpPr>
          <p:cNvPr id="32" name="Conector recto de flecha 28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5CBE564B-019F-48B9-9BC5-D6B33ABD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11FD07-8A65-4E91-877B-0D163B18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1087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Se responde individualmente y no afecta la nota. Buscamos tendencias por tema, no un ranking de estudiantes.</a:t>
            </a:r>
          </a:p>
        </p:txBody>
      </p:sp>
      <p:sp>
        <p:nvSpPr>
          <p:cNvPr id="6" name="Rectángulo redondeado 5">
            <a:extLst xmlns:a="http://schemas.openxmlformats.org/drawingml/2006/main">
              <a:ext uri="{FF2B5EF4-FFF2-40B4-BE49-F238E27FC236}">
                <a16:creationId xmlns:a16="http://schemas.microsoft.com/office/drawing/2014/main" id="{6EB36AB9-9E1B-4276-9642-819065C9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Elipse 6">
            <a:extLst xmlns:a="http://schemas.openxmlformats.org/drawingml/2006/main">
              <a:ext uri="{FF2B5EF4-FFF2-40B4-BE49-F238E27FC236}">
                <a16:creationId xmlns:a16="http://schemas.microsoft.com/office/drawing/2014/main" id="{1CF740DC-A5AD-4ECB-847B-753BFDB7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CB6C648-0FD3-467E-A168-A302D238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FDC592DE-C63E-4ADD-8B95-F05B78D3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Circuitos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146F4119-0620-4081-990F-7C4F1091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Ley de Ohm, potencia, serie, paralelo y Kirchhoff.</a:t>
            </a:r>
          </a:p>
        </p:txBody>
      </p:sp>
      <p:sp>
        <p:nvSpPr>
          <p:cNvPr id="11" name="Rectángulo redondeado 10">
            <a:extLst xmlns:a="http://schemas.openxmlformats.org/drawingml/2006/main">
              <a:ext uri="{FF2B5EF4-FFF2-40B4-BE49-F238E27FC236}">
                <a16:creationId xmlns:a16="http://schemas.microsoft.com/office/drawing/2014/main" id="{85CF45C7-4752-45C4-8566-EEF33C52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C06FDE9A-43B2-4D34-8316-2893A6D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D1457F9C-46A3-4885-AAAE-A485B05B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1ACD4060-90FF-4C61-8870-4C16652C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Medición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6B9B9C5C-FE64-4164-9FF7-23476E2A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Conexión del multímetro y decisiones de seguridad.</a:t>
            </a:r>
          </a:p>
        </p:txBody>
      </p:sp>
      <p:sp>
        <p:nvSpPr>
          <p:cNvPr id="16" name="Rectángulo redondeado 15">
            <a:extLst xmlns:a="http://schemas.openxmlformats.org/drawingml/2006/main">
              <a:ext uri="{FF2B5EF4-FFF2-40B4-BE49-F238E27FC236}">
                <a16:creationId xmlns:a16="http://schemas.microsoft.com/office/drawing/2014/main" id="{58AA833B-EE73-49E1-AC0C-A5994A55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Elipse 16">
            <a:extLst xmlns:a="http://schemas.openxmlformats.org/drawingml/2006/main">
              <a:ext uri="{FF2B5EF4-FFF2-40B4-BE49-F238E27FC236}">
                <a16:creationId xmlns:a16="http://schemas.microsoft.com/office/drawing/2014/main" id="{E9B33D1F-8B17-444D-BE55-47F5C1CD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DB7E1725-CCBD-4008-8B7F-15D96C35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55D0747B-6491-40CA-9C95-3709E4B1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Señales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5EAF6E10-44B8-40B2-9026-59A3A397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LDR, divisor de voltaje y señal analógica.</a:t>
            </a:r>
          </a:p>
        </p:txBody>
      </p:sp>
      <p:sp>
        <p:nvSpPr>
          <p:cNvPr id="21" name="Rectángulo redondeado 20">
            <a:extLst xmlns:a="http://schemas.openxmlformats.org/drawingml/2006/main">
              <a:ext uri="{FF2B5EF4-FFF2-40B4-BE49-F238E27FC236}">
                <a16:creationId xmlns:a16="http://schemas.microsoft.com/office/drawing/2014/main" id="{9E098069-930C-48C1-9C3E-4B742D87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D42FC62F-37F4-4F14-A80D-B547FEC7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D4DEBF4F-2617-4A5A-8C99-E255FD4A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0855646A-2F1F-43F6-B49D-02B6A8FF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Sistema y ABP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3E7C3C0D-6E2A-48C5-9BB4-95D7FC46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Comparador, acción y primera formulación del problema.</a:t>
            </a:r>
          </a:p>
        </p:txBody>
      </p:sp>
      <p:sp>
        <p:nvSpPr>
          <p:cNvPr id="26" name="Rectángulo 25">
            <a:extLst xmlns:a="http://schemas.openxmlformats.org/drawingml/2006/main">
              <a:ext uri="{FF2B5EF4-FFF2-40B4-BE49-F238E27FC236}">
                <a16:creationId xmlns:a16="http://schemas.microsoft.com/office/drawing/2014/main" id="{995525DB-2183-4DA3-B91F-EE549FA0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562600"/>
            <a:ext cx="8458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Resultado esperado: decidir una recuperación corta y focalizada antes de avanzar.</a:t>
            </a:r>
          </a:p>
        </p:txBody>
      </p:sp>
    </p:spTree>
    <p:extLst>
      <p:ext uri="{BB962C8B-B14F-4D97-AF65-F5344CB8AC3E}">
        <p14:creationId xmlns:p14="http://schemas.microsoft.com/office/powerpoint/2010/main" val="9664299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ectángulo 25">
            <a:extLst xmlns:a="http://schemas.openxmlformats.org/drawingml/2006/main">
              <a:ext uri="{FF2B5EF4-FFF2-40B4-BE49-F238E27FC236}">
                <a16:creationId xmlns:a16="http://schemas.microsoft.com/office/drawing/2014/main" id="{6E64B711-8780-410F-8F29-7AAC3FB5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C48350DE-1E68-4131-9CE5-F4A84E4F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Cuatro magnitudes explican el comportamiento del circuito</a:t>
            </a:r>
          </a:p>
        </p:txBody>
      </p:sp>
      <p:cxnSp>
        <p:nvCxnSpPr>
          <p:cNvPr id="31" name="Conector recto de flecha 27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1A64823F-83F5-4832-86FD-E61F5AD7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9416DB42-EE18-4A2C-9E9D-6AB90062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Elipse 5">
            <a:extLst xmlns:a="http://schemas.openxmlformats.org/drawingml/2006/main">
              <a:ext uri="{FF2B5EF4-FFF2-40B4-BE49-F238E27FC236}">
                <a16:creationId xmlns:a16="http://schemas.microsoft.com/office/drawing/2014/main" id="{D6A329CE-2271-412C-8112-59DBF199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1E3298A7-7003-440C-9024-AE97822D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0CE28E57-D0DE-43CD-9DD7-AF191522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6215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Voltaje · V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3847FCB-1BC3-4A25-A985-1D5B2248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Diferencia de potencial que impulsa el movimiento de carga.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6753E1A5-01E1-4FED-8523-DD118061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9070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Elipse 10">
            <a:extLst xmlns:a="http://schemas.openxmlformats.org/drawingml/2006/main">
              <a:ext uri="{FF2B5EF4-FFF2-40B4-BE49-F238E27FC236}">
                <a16:creationId xmlns:a16="http://schemas.microsoft.com/office/drawing/2014/main" id="{BF50665A-76FE-4A80-A12B-2B626A56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6FE186CA-0AA6-4EDB-B8D9-E1548BB1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E3949C4F-090A-4C54-9E32-7FAA3CC2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6215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Corriente · A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C3AEA416-DC69-414B-991B-DF265009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Flujo de carga que atraviesa una rama del circuito.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F91CDAFE-58A9-442E-8633-207A5B49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C2325091-37BD-4099-9442-265F5DE2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A71206EB-0139-47F6-9296-68E13083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C419846-1B18-4CCA-83E4-06E6E3D3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Resistencia · Ω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74D2EC7D-9E57-43AD-8367-0125B9A4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Oposición al paso de corriente y elemento de control de polarización.</a:t>
            </a:r>
          </a:p>
        </p:txBody>
      </p:sp>
      <p:sp>
        <p:nvSpPr>
          <p:cNvPr id="20" name="Rectángulo redondeado 19">
            <a:extLst xmlns:a="http://schemas.openxmlformats.org/drawingml/2006/main">
              <a:ext uri="{FF2B5EF4-FFF2-40B4-BE49-F238E27FC236}">
                <a16:creationId xmlns:a16="http://schemas.microsoft.com/office/drawing/2014/main" id="{FF89CE41-1658-4FA9-B6D5-0E105782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90525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Elipse 20">
            <a:extLst xmlns:a="http://schemas.openxmlformats.org/drawingml/2006/main">
              <a:ext uri="{FF2B5EF4-FFF2-40B4-BE49-F238E27FC236}">
                <a16:creationId xmlns:a16="http://schemas.microsoft.com/office/drawing/2014/main" id="{8E9FBA2C-D531-46FA-A08B-6BAF0D01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32D4CB6-4742-4448-9D72-4E8D5BBF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C99A6E1A-F2EC-4F72-ADF1-E74B5EE3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 · W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61C1EE14-FA62-426D-9DB8-955AED2C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8630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Rapidez con la que un elemento entrega o disipa energía.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F1EDE017-647C-43DE-95B3-6B3A7395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19475"/>
            <a:ext cx="23431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V = I·R</a:t>
            </a:r>
          </a:p>
        </p:txBody>
      </p:sp>
    </p:spTree>
    <p:extLst>
      <p:ext uri="{BB962C8B-B14F-4D97-AF65-F5344CB8AC3E}">
        <p14:creationId xmlns:p14="http://schemas.microsoft.com/office/powerpoint/2010/main" val="19799462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1E96ECA6-A084-4481-A496-BFFC6BA5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EJEMPLO GUIADO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60CDA9D-6C94-4376-833A-4977AA3D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La Ley de Ohm convierte una condición en cálculo</a:t>
            </a:r>
          </a:p>
        </p:txBody>
      </p:sp>
      <p:cxnSp>
        <p:nvCxnSpPr>
          <p:cNvPr id="26" name="Conector recto de flecha 18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92A687E1-FA65-4C2D-9EB6-896ABAC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81035052-068E-4ACB-A2EC-FE09CA26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46863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09F0C845-0B2E-42C3-AD17-4DD5C265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52650"/>
            <a:ext cx="4000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fuente de 12 V alimenta una resistencia de 1 kΩ.</a:t>
            </a:r>
          </a:p>
        </p:txBody>
      </p:sp>
      <p:cxnSp>
        <p:nvCxnSpPr>
          <p:cNvPr id="30" name="Conector recto de flecha 22"/>
          <p:cNvCxnSpPr/>
          <p:nvPr/>
        </p:nvCxnSpPr>
        <p:spPr>
          <a:xfrm xmlns:a="http://schemas.openxmlformats.org/drawingml/2006/main">
            <a:off x="1524000" y="3752850"/>
            <a:ext cx="2724150" cy="953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00A7C7"/>
            </a:solidFill>
            <a:prstDash val="solid"/>
          </a:ln>
        </p:spPr>
      </p:cxn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7667749-2D48-4457-8985-C433B407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2425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1905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8D6993CB-003E-4C31-AB32-F386A395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24250"/>
            <a:ext cx="704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1 kΩ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E8591F55-9E42-4757-8C84-7A212C68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769" y="3543300"/>
            <a:ext cx="666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12 V</a:t>
            </a:r>
          </a:p>
        </p:txBody>
      </p:sp>
      <p:sp>
        <p:nvSpPr>
          <p:cNvPr id="11" name="Rectángulo redondeado 10">
            <a:extLst xmlns:a="http://schemas.openxmlformats.org/drawingml/2006/main">
              <a:ext uri="{FF2B5EF4-FFF2-40B4-BE49-F238E27FC236}">
                <a16:creationId xmlns:a16="http://schemas.microsoft.com/office/drawing/2014/main" id="{64EC4E3D-E839-49DA-87B3-0BBD2916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28800"/>
            <a:ext cx="56007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B6E9C29-ABE2-4EDA-BB06-931A7D9A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90750"/>
            <a:ext cx="44196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 = V / 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D8FAF5C4-6E27-4FA8-AEF4-ED9C5606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45339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 = 12 V / 1000 Ω = 0,012 A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5B9BF955-DF7B-4242-AB4F-94818463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3581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I = 12 mA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70DBA1EF-CD15-4FA1-AD60-A660BE05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62500"/>
            <a:ext cx="4419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Comprobación: P = V·I = 0,144 W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80CA7138-800F-4AD2-97FC-550A3FC6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800725"/>
            <a:ext cx="695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t>Pregunta: ¿sería segura una resistencia de 1/8 W?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0684FD66-78F6-4D16-8C03-B217DAF2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48150" y="3443287"/>
            <a:ext cx="0" cy="600075"/>
          </a:xfrm>
          <a:prstGeom xmlns:a="http://schemas.openxmlformats.org/drawingml/2006/main" prst="line">
            <a:avLst/>
          </a:prstGeom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DF689DDC-2614-4FAC-A4AE-6580FB99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389261" y="3529012"/>
            <a:ext cx="0" cy="447675"/>
          </a:xfrm>
          <a:prstGeom xmlns:a="http://schemas.openxmlformats.org/drawingml/2006/main" prst="line">
            <a:avLst/>
          </a:prstGeom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Conector recto 21">
            <a:extLst xmlns:a="http://schemas.openxmlformats.org/drawingml/2006/main">
              <a:ext uri="{FF2B5EF4-FFF2-40B4-BE49-F238E27FC236}">
                <a16:creationId xmlns:a16="http://schemas.microsoft.com/office/drawing/2014/main" id="{C9EA44BF-6341-4ADF-BB99-8BA48EF3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07794" y="3621880"/>
            <a:ext cx="0" cy="261938"/>
          </a:xfrm>
          <a:prstGeom xmlns:a="http://schemas.openxmlformats.org/drawingml/2006/main" prst="line">
            <a:avLst/>
          </a:prstGeom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5791117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40EBDDE-7D78-4624-AEB9-BC136F71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7808E08D-95A6-4449-82CD-E3262810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Kirchhoff verifica la conservación de carga y energía</a:t>
            </a:r>
          </a:p>
        </p:txBody>
      </p:sp>
      <p:cxnSp>
        <p:nvCxnSpPr>
          <p:cNvPr id="35" name="Conector recto de flecha 24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74D065FE-5DB6-450D-B3B9-665D7904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65B232F7-4226-4C65-82DB-B9A41FA3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2578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8E40FD3F-4D3D-4B7E-AB2F-7FE20642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095500"/>
            <a:ext cx="4629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corrientes · nodo</a:t>
            </a:r>
          </a:p>
        </p:txBody>
      </p:sp>
      <p:sp>
        <p:nvSpPr>
          <p:cNvPr id="7" name="Elipse 6">
            <a:extLst xmlns:a="http://schemas.openxmlformats.org/drawingml/2006/main">
              <a:ext uri="{FF2B5EF4-FFF2-40B4-BE49-F238E27FC236}">
                <a16:creationId xmlns:a16="http://schemas.microsoft.com/office/drawing/2014/main" id="{9EFCF1AE-6C64-4E7F-91A9-11F7BE93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000" y="34575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40" name="Conector recto de flecha 29"/>
          <p:cNvCxnSpPr/>
          <p:nvPr/>
        </p:nvCxnSpPr>
        <p:spPr>
          <a:xfrm xmlns:a="http://schemas.openxmlformats.org/drawingml/2006/main">
            <a:off x="1714500" y="2971800"/>
            <a:ext cx="1127500" cy="575786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cxnSp>
        <p:nvCxnSpPr>
          <p:cNvPr id="41" name="Conector recto de flecha 30"/>
          <p:cNvCxnSpPr/>
          <p:nvPr/>
        </p:nvCxnSpPr>
        <p:spPr>
          <a:xfrm xmlns:a="http://schemas.openxmlformats.org/drawingml/2006/main">
            <a:off x="3438525" y="2857500"/>
            <a:ext cx="99060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cxnSp>
        <p:nvCxnSpPr>
          <p:cNvPr id="42" name="Conector recto de flecha 31"/>
          <p:cNvCxnSpPr/>
          <p:nvPr/>
        </p:nvCxnSpPr>
        <p:spPr>
          <a:xfrm xmlns:a="http://schemas.openxmlformats.org/drawingml/2006/main">
            <a:off x="3438525" y="3886200"/>
            <a:ext cx="99060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C12524B-A541-425A-97C5-1E57A654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788" y="2732722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I₁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49147355-DD09-4CF7-95B2-66F8AAFA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6700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I₂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D9D8DCC4-E789-44C2-823B-5909A079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38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I₃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A7C7B59C-1837-4C69-A4C0-0D5C00BC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426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Σ I que entra = Σ I que sale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CB28C004-2ED2-4E7C-ADE8-8FBCEA6F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578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654E59FE-E060-494E-8918-5DBAAA98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95500"/>
            <a:ext cx="461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Ley de voltajes · malla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E2C58EC-0BE7-4138-914F-4180638B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48000"/>
            <a:ext cx="27051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5E1F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1FD96E58-BD2C-499B-8D2A-B132A37D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1143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+  Vₛ  −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3A3CE39-044B-4C05-A651-89C20BFA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71775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R₁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EDCE7539-0A8A-4AAF-ACD4-98A5A445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58140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R₂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B9D03F9-D294-44F0-8667-8A4CB3BD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Σ V = 0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AEEF9E70-BF29-4643-817A-BEAA0F10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53125"/>
            <a:ext cx="857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Primero defina sentidos y polaridades; después escriba las ecuaciones.</a:t>
            </a:r>
          </a:p>
        </p:txBody>
      </p:sp>
    </p:spTree>
    <p:extLst>
      <p:ext uri="{BB962C8B-B14F-4D97-AF65-F5344CB8AC3E}">
        <p14:creationId xmlns:p14="http://schemas.microsoft.com/office/powerpoint/2010/main" val="15400168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89513AF9-E175-43F5-9B8B-EA4B433E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INSTRUMENTACIÓN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72CE5407-5094-412A-9CA5-4F20600F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Medir bien también es diseñar</a:t>
            </a:r>
          </a:p>
        </p:txBody>
      </p:sp>
      <p:cxnSp>
        <p:nvCxnSpPr>
          <p:cNvPr id="31" name="Conector recto de flecha 26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3E724F59-803A-4200-B0DB-4F02B9D4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11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E284B336-F5E9-467D-9E1F-5E151656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010150" cy="32956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n 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dac89f0cb463a"/>
          <a:srcRect xmlns:a="http://schemas.openxmlformats.org/drawingml/2006/main" l="0" t="7823" r="0" b="78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981200"/>
            <a:ext cx="4667250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Rectángulo redondeado 6">
            <a:extLst xmlns:a="http://schemas.openxmlformats.org/drawingml/2006/main">
              <a:ext uri="{FF2B5EF4-FFF2-40B4-BE49-F238E27FC236}">
                <a16:creationId xmlns:a16="http://schemas.microsoft.com/office/drawing/2014/main" id="{E406800F-6EC5-47F9-8B86-1D8CF226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554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Elipse 7">
            <a:extLst xmlns:a="http://schemas.openxmlformats.org/drawingml/2006/main">
              <a:ext uri="{FF2B5EF4-FFF2-40B4-BE49-F238E27FC236}">
                <a16:creationId xmlns:a16="http://schemas.microsoft.com/office/drawing/2014/main" id="{46E995E5-69ED-4F16-BBB3-CF27BD18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FF171C07-C26A-49C8-A70D-F3E68343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9DDEB08A-F93C-4481-9FE9-A5982355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43100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Voltaje</a:t>
            </a:r>
          </a:p>
        </p:txBody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82B4FCE8-E5DD-4110-BD29-1BAC3544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86000"/>
            <a:ext cx="4552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En paralelo; elija AC o DC e identifique la referencia.</a:t>
            </a:r>
          </a:p>
        </p:txBody>
      </p:sp>
      <p:sp>
        <p:nvSpPr>
          <p:cNvPr id="12" name="Rectángulo redondeado 11">
            <a:extLst xmlns:a="http://schemas.openxmlformats.org/drawingml/2006/main">
              <a:ext uri="{FF2B5EF4-FFF2-40B4-BE49-F238E27FC236}">
                <a16:creationId xmlns:a16="http://schemas.microsoft.com/office/drawing/2014/main" id="{EE207E43-6C27-4EAF-A0B8-199C18CB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05150"/>
            <a:ext cx="554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Elipse 12">
            <a:extLst xmlns:a="http://schemas.openxmlformats.org/drawingml/2006/main">
              <a:ext uri="{FF2B5EF4-FFF2-40B4-BE49-F238E27FC236}">
                <a16:creationId xmlns:a16="http://schemas.microsoft.com/office/drawing/2014/main" id="{ADDFD46B-543C-408B-86CA-5BC21CE4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8049313A-307D-4098-BC00-1D6CE933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4672FF87-F040-47DD-AE77-C294C734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38500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Corriente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02CEDE87-5A97-44B3-A7FC-02E54082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81400"/>
            <a:ext cx="4552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En serie; revise terminal, rango y fusible antes de energizar.</a:t>
            </a:r>
          </a:p>
        </p:txBody>
      </p:sp>
      <p:sp>
        <p:nvSpPr>
          <p:cNvPr id="17" name="Rectángulo redondeado 16">
            <a:extLst xmlns:a="http://schemas.openxmlformats.org/drawingml/2006/main">
              <a:ext uri="{FF2B5EF4-FFF2-40B4-BE49-F238E27FC236}">
                <a16:creationId xmlns:a16="http://schemas.microsoft.com/office/drawing/2014/main" id="{72FA03D8-0C95-40DF-B600-99044D0E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554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Elipse 17">
            <a:extLst xmlns:a="http://schemas.openxmlformats.org/drawingml/2006/main">
              <a:ext uri="{FF2B5EF4-FFF2-40B4-BE49-F238E27FC236}">
                <a16:creationId xmlns:a16="http://schemas.microsoft.com/office/drawing/2014/main" id="{CA89CC91-D0A3-4798-87AA-367D089D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29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7FBAE466-CAB8-4990-9597-1814FAE8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291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A904AA3D-6AE2-4C9D-978D-0E8089A9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33900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Resistencia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6AF9648C-6968-4C68-BEB0-ABA814BC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876800"/>
            <a:ext cx="4552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 el circuito desenergizado y los capacitores descargados.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A2D195B-82CD-4FA6-8BFA-2C4C8E43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4667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Zeroping / Wikimedia Commons · CC BY 4.0</a:t>
            </a:r>
          </a:p>
        </p:txBody>
      </p:sp>
      <p:sp>
        <p:nvSpPr>
          <p:cNvPr id="23" name="Rectángulo redondeado 22">
            <a:extLst xmlns:a="http://schemas.openxmlformats.org/drawingml/2006/main">
              <a:ext uri="{FF2B5EF4-FFF2-40B4-BE49-F238E27FC236}">
                <a16:creationId xmlns:a16="http://schemas.microsoft.com/office/drawing/2014/main" id="{9944EB10-BD79-4E12-BC3B-FF5E9517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34050"/>
            <a:ext cx="8420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A2025FB4-8B88-41CB-B299-AAE37D59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Si no está seguro de la conexión, no energice el montaje.</a:t>
            </a:r>
          </a:p>
        </p:txBody>
      </p:sp>
    </p:spTree>
    <p:extLst>
      <p:ext uri="{BB962C8B-B14F-4D97-AF65-F5344CB8AC3E}">
        <p14:creationId xmlns:p14="http://schemas.microsoft.com/office/powerpoint/2010/main" val="6434320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2ED47B10-4752-4C6A-BB2B-D34D3DFC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PUENTE HACIA ELECTRÓNICA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48FF7A01-6582-401F-9E27-A63353C6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señal transporta información</a:t>
            </a:r>
          </a:p>
        </p:txBody>
      </p:sp>
      <p:cxnSp>
        <p:nvCxnSpPr>
          <p:cNvPr id="20" name="Conector recto de flecha 15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943621B3-2961-4B12-82E2-64A34FEC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  <p:pic>
        <p:nvPicPr>
          <p:cNvPr id="22" name="Imagen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6a755df134e94"/>
          <a:stretch xmlns:a="http://schemas.openxmlformats.org/drawingml/2006/main"/>
        </p:blipFill>
        <p:spPr>
          <a:xfrm xmlns:a="http://schemas.openxmlformats.org/drawingml/2006/main">
            <a:off x="3016250" y="1657350"/>
            <a:ext cx="6159500" cy="3695700"/>
          </a:xfrm>
          <a:prstGeom xmlns:a="http://schemas.openxmlformats.org/drawingml/2006/main" prst="rect">
            <a:avLst/>
          </a:prstGeom>
        </p:spPr>
      </p:pic>
      <p:sp>
        <p:nvSpPr>
          <p:cNvPr id="6" name="Rectángulo redondeado 5">
            <a:extLst xmlns:a="http://schemas.openxmlformats.org/drawingml/2006/main">
              <a:ext uri="{FF2B5EF4-FFF2-40B4-BE49-F238E27FC236}">
                <a16:creationId xmlns:a16="http://schemas.microsoft.com/office/drawing/2014/main" id="{5ABA7D36-1489-48A7-9658-5DBCBEA3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9E1DD386-3467-4667-AD57-10F6D901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Amplitud</a:t>
            </a:r>
          </a:p>
        </p:txBody>
      </p:sp>
      <p:sp>
        <p:nvSpPr>
          <p:cNvPr id="8" name="Rectángulo redondeado 7">
            <a:extLst xmlns:a="http://schemas.openxmlformats.org/drawingml/2006/main">
              <a:ext uri="{FF2B5EF4-FFF2-40B4-BE49-F238E27FC236}">
                <a16:creationId xmlns:a16="http://schemas.microsoft.com/office/drawing/2014/main" id="{BAEF1D13-4A60-4EB3-BE66-502B7494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84016C67-303C-41D1-996D-7E7D2F1E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Tiempo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78A5D4C1-9A50-4ACB-B056-E51ADD77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A6ED5C5A-79C2-4362-AD2C-F2CF5D54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Frecuencia</a:t>
            </a:r>
          </a:p>
        </p:txBody>
      </p:sp>
      <p:sp>
        <p:nvSpPr>
          <p:cNvPr id="12" name="Rectángulo redondeado 11">
            <a:extLst xmlns:a="http://schemas.openxmlformats.org/drawingml/2006/main">
              <a:ext uri="{FF2B5EF4-FFF2-40B4-BE49-F238E27FC236}">
                <a16:creationId xmlns:a16="http://schemas.microsoft.com/office/drawing/2014/main" id="{6A7E7955-975E-4DA1-922A-0169045A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00700"/>
            <a:ext cx="2095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8AF8FE4-7769-4DD0-9042-B7518E2A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648325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Nivel lógico</a:t>
            </a:r>
          </a:p>
        </p:txBody>
      </p:sp>
    </p:spTree>
    <p:extLst>
      <p:ext uri="{BB962C8B-B14F-4D97-AF65-F5344CB8AC3E}">
        <p14:creationId xmlns:p14="http://schemas.microsoft.com/office/powerpoint/2010/main" val="17379123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DEFED852-C88D-461E-BB90-4E2DE959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TRABAJO EN EQUIPO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3C6A51A-7DC1-485F-B1AD-8E1A493E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Los equipos trabajan juntos, pero cada aporte cuenta</a:t>
            </a:r>
          </a:p>
        </p:txBody>
      </p:sp>
      <p:cxnSp>
        <p:nvCxnSpPr>
          <p:cNvPr id="30" name="Conector recto de flecha 26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05F55835-39DC-4D47-B33B-C9D7A3BA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13</a:t>
            </a:r>
          </a:p>
        </p:txBody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AD527B27-695A-413C-8480-EDA8F760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Elipse 5">
            <a:extLst xmlns:a="http://schemas.openxmlformats.org/drawingml/2006/main">
              <a:ext uri="{FF2B5EF4-FFF2-40B4-BE49-F238E27FC236}">
                <a16:creationId xmlns:a16="http://schemas.microsoft.com/office/drawing/2014/main" id="{73674C9A-34E0-41D6-A171-82F1BFAC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432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Elipse 6">
            <a:extLst xmlns:a="http://schemas.openxmlformats.org/drawingml/2006/main">
              <a:ext uri="{FF2B5EF4-FFF2-40B4-BE49-F238E27FC236}">
                <a16:creationId xmlns:a16="http://schemas.microsoft.com/office/drawing/2014/main" id="{B7E26D2F-DA79-4271-BB48-AB35C6BB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432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ABDBD476-C752-466F-BA62-136D8CD3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765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83596831-AF11-41A2-AE03-16C65008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62375"/>
            <a:ext cx="195262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estudiantes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ABA89DB1-BA9B-4F1F-BB73-47D38ED6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8595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Elipse 10">
            <a:extLst xmlns:a="http://schemas.openxmlformats.org/drawingml/2006/main">
              <a:ext uri="{FF2B5EF4-FFF2-40B4-BE49-F238E27FC236}">
                <a16:creationId xmlns:a16="http://schemas.microsoft.com/office/drawing/2014/main" id="{B43D8402-4076-4D69-8BA1-9C3274F2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76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098479B9-7843-4128-BBD9-84DC5C60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764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581167B1-4E41-4456-A0CC-635FC68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Roles rotativos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208BD68A-D5EB-4AB5-8574-40E981F9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6700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Montaje y seguridad · medición y datos · análisis y documentación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F0B4E2E0-C99D-4F72-810C-3A4F10B0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C1050BEC-0881-481D-9E1E-A3BF3CE6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D116F381-25AC-4479-AF5A-EDDF0C7B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5AC0D975-F641-4314-AB28-60C946B7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52425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Tres evidencias en laboratorio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D348D5DD-A0FD-404A-9077-DE865599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3385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Preinforme y trabajo en clase 30% · informe completo 40% · aporte individual 30%</a:t>
            </a:r>
          </a:p>
        </p:txBody>
      </p:sp>
      <p:sp>
        <p:nvSpPr>
          <p:cNvPr id="20" name="Rectángulo redondeado 19">
            <a:extLst xmlns:a="http://schemas.openxmlformats.org/drawingml/2006/main">
              <a:ext uri="{FF2B5EF4-FFF2-40B4-BE49-F238E27FC236}">
                <a16:creationId xmlns:a16="http://schemas.microsoft.com/office/drawing/2014/main" id="{08C541E5-99E9-4AFC-9E0A-84507FC2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1965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Elipse 20">
            <a:extLst xmlns:a="http://schemas.openxmlformats.org/drawingml/2006/main">
              <a:ext uri="{FF2B5EF4-FFF2-40B4-BE49-F238E27FC236}">
                <a16:creationId xmlns:a16="http://schemas.microsoft.com/office/drawing/2014/main" id="{EB0BC8EE-E5E1-4B57-A044-E6DA624A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4B26C075-5211-460F-8AC2-6368E4F9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919A63C-C3D2-4FF8-B888-D1BF3B01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9110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Sustentación individual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4F3C154B-3572-4772-B022-EEC3225D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0070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Cada integrante debe explicar las decisiones técnicas y el trabajo que realizó.</a:t>
            </a:r>
          </a:p>
        </p:txBody>
      </p:sp>
    </p:spTree>
    <p:extLst>
      <p:ext uri="{BB962C8B-B14F-4D97-AF65-F5344CB8AC3E}">
        <p14:creationId xmlns:p14="http://schemas.microsoft.com/office/powerpoint/2010/main" val="8990788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8E5E2D30-9CC6-4A86-BDE3-F3CBD54C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RUTA ABP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23734D2B-4B3C-4B23-BF2E-1E77CB99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primer avance será una etapa AC/DC segura</a:t>
            </a:r>
          </a:p>
        </p:txBody>
      </p:sp>
      <p:cxnSp>
        <p:nvCxnSpPr>
          <p:cNvPr id="51" name="Conector recto de flecha 26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128CCBC6-ED65-49DE-A293-C4FDDA1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14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4A5071F6-C5B5-4588-9643-F8613412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3911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Elipse 5">
            <a:extLst xmlns:a="http://schemas.openxmlformats.org/drawingml/2006/main">
              <a:ext uri="{FF2B5EF4-FFF2-40B4-BE49-F238E27FC236}">
                <a16:creationId xmlns:a16="http://schemas.microsoft.com/office/drawing/2014/main" id="{9E4B3209-0F69-4BCD-B0DD-791873FB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A3835F14-98C2-4906-A907-0CC0A9B1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5B7B6F4E-9BE6-4082-8780-33EF51A6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43100"/>
            <a:ext cx="4400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Transformar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47729DA-B4E5-4E42-81ED-89BD9CD5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86000"/>
            <a:ext cx="4400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Usar baja tensión de transformador o fuente de laboratorio.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B0B85EC7-56D8-4037-A013-1957EFA2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53911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Elipse 10">
            <a:extLst xmlns:a="http://schemas.openxmlformats.org/drawingml/2006/main">
              <a:ext uri="{FF2B5EF4-FFF2-40B4-BE49-F238E27FC236}">
                <a16:creationId xmlns:a16="http://schemas.microsoft.com/office/drawing/2014/main" id="{F861F17C-DDE6-4971-92AD-88C6FD7B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C66C216E-37BF-4584-8D01-4D8CA94D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CABE2FE-77BC-4120-8AC9-36969C32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28950"/>
            <a:ext cx="4400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Rectificar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F738F4FA-E80E-4EC4-8570-86DD78A7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4400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Obtener una salida de polaridad definida.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BAA0589F-1AF6-4166-B103-1CEF59EC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53911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757E8815-E92E-4826-BFD6-85111BC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F8A71BA0-1218-4EE2-A914-259691C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8CA24018-17F9-4917-9983-482EDC8A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14800"/>
            <a:ext cx="4400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Filtrar y proteger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7F6B15E2-CE9A-4A34-A62B-60CD1FDF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4400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Reducir rizado y limitar condiciones anormales.</a:t>
            </a:r>
          </a:p>
        </p:txBody>
      </p:sp>
      <p:sp>
        <p:nvSpPr>
          <p:cNvPr id="20" name="Rectángulo redondeado 19">
            <a:extLst xmlns:a="http://schemas.openxmlformats.org/drawingml/2006/main">
              <a:ext uri="{FF2B5EF4-FFF2-40B4-BE49-F238E27FC236}">
                <a16:creationId xmlns:a16="http://schemas.microsoft.com/office/drawing/2014/main" id="{151C98C4-30F7-4123-998A-F4FFF882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45910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n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20965f9b04532"/>
          <a:stretch xmlns:a="http://schemas.openxmlformats.org/drawingml/2006/main"/>
        </p:blipFill>
        <p:spPr>
          <a:xfrm xmlns:a="http://schemas.openxmlformats.org/drawingml/2006/main">
            <a:off x="7622970" y="1981200"/>
            <a:ext cx="2680111" cy="2724150"/>
          </a:xfrm>
          <a:prstGeom xmlns:a="http://schemas.openxmlformats.org/drawingml/2006/main" prst="rect">
            <a:avLst/>
          </a:prstGeom>
        </p:spPr>
      </p:pic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0CFD7A51-EDF4-4BEC-8627-691A6D12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4591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Omegatron / Wikimedia Commons · CC BY-SA 3.0</a:t>
            </a:r>
          </a:p>
        </p:txBody>
      </p:sp>
      <p:cxnSp>
        <p:nvCxnSpPr>
          <p:cNvPr id="71" name="Conector recto de flecha 46"/>
          <p:cNvCxnSpPr/>
          <p:nvPr/>
        </p:nvCxnSpPr>
        <p:spPr>
          <a:xfrm xmlns:a="http://schemas.openxmlformats.org/drawingml/2006/main">
            <a:off x="1657350" y="5257800"/>
            <a:ext cx="8877300" cy="953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A7C7"/>
            </a:solidFill>
            <a:prstDash val="solid"/>
          </a:ln>
        </p:spPr>
      </p:cxn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8FCEA902-7875-4286-807D-393F2F61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62600"/>
            <a:ext cx="88392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Preproyecto 1: simulación, montaje común, mediciones, fuente académica en otro idioma y una mejora después de la retroalimentación.</a:t>
            </a:r>
          </a:p>
        </p:txBody>
      </p:sp>
    </p:spTree>
    <p:extLst>
      <p:ext uri="{BB962C8B-B14F-4D97-AF65-F5344CB8AC3E}">
        <p14:creationId xmlns:p14="http://schemas.microsoft.com/office/powerpoint/2010/main" val="10623638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C6BB68C2-CB2C-49F1-BAA6-F5480213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SALIDA DE CLASE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7BA666B8-97D7-489F-ABF4-B383871F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Antes de salir, tomamos tres decisiones</a:t>
            </a:r>
          </a:p>
        </p:txBody>
      </p:sp>
      <p:cxnSp>
        <p:nvCxnSpPr>
          <p:cNvPr id="28" name="Conector recto de flecha 24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7F1B3915-FD16-42F1-A644-060B720F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15</a:t>
            </a:r>
          </a:p>
        </p:txBody>
      </p:sp>
      <p:sp>
        <p:nvSpPr>
          <p:cNvPr id="5" name="Rectángulo redondeado 4">
            <a:extLst xmlns:a="http://schemas.openxmlformats.org/drawingml/2006/main">
              <a:ext uri="{FF2B5EF4-FFF2-40B4-BE49-F238E27FC236}">
                <a16:creationId xmlns:a16="http://schemas.microsoft.com/office/drawing/2014/main" id="{EE12AC1D-9A79-49B6-9FAF-827F959E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Elipse 5">
            <a:extLst xmlns:a="http://schemas.openxmlformats.org/drawingml/2006/main">
              <a:ext uri="{FF2B5EF4-FFF2-40B4-BE49-F238E27FC236}">
                <a16:creationId xmlns:a16="http://schemas.microsoft.com/office/drawing/2014/main" id="{D84668FE-E493-43EF-AEA4-4E275B8F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AE02931-7BC2-482C-AFE3-7AD263C4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0E9D0366-ECFF-425C-BDE9-28D6D3BC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ya domino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D61FBFAC-7294-4664-8B9E-C58D8CC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Escriba un concepto o procedimiento que puede explicar con seguridad.</a:t>
            </a:r>
          </a:p>
        </p:txBody>
      </p:sp>
      <p:sp>
        <p:nvSpPr>
          <p:cNvPr id="10" name="Rectángulo redondeado 9">
            <a:extLst xmlns:a="http://schemas.openxmlformats.org/drawingml/2006/main">
              <a:ext uri="{FF2B5EF4-FFF2-40B4-BE49-F238E27FC236}">
                <a16:creationId xmlns:a16="http://schemas.microsoft.com/office/drawing/2014/main" id="{8CE8AE46-0989-4C3B-BAEA-0EA452DE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Elipse 10">
            <a:extLst xmlns:a="http://schemas.openxmlformats.org/drawingml/2006/main">
              <a:ext uri="{FF2B5EF4-FFF2-40B4-BE49-F238E27FC236}">
                <a16:creationId xmlns:a16="http://schemas.microsoft.com/office/drawing/2014/main" id="{C48F6CDF-6E9B-4137-8218-10052F2C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8730A0DC-A0D9-4AC8-93D8-ECA1F8E6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20A27736-C679-4F67-A137-5EDF806F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debo reforzar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1CC9D79C-789D-4508-8B39-5FF7B864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Elija un vacío del diagnóstico y formule una acción concreta para recuperarlo.</a:t>
            </a:r>
          </a:p>
        </p:txBody>
      </p:sp>
      <p:sp>
        <p:nvSpPr>
          <p:cNvPr id="15" name="Rectángulo redondeado 14">
            <a:extLst xmlns:a="http://schemas.openxmlformats.org/drawingml/2006/main">
              <a:ext uri="{FF2B5EF4-FFF2-40B4-BE49-F238E27FC236}">
                <a16:creationId xmlns:a16="http://schemas.microsoft.com/office/drawing/2014/main" id="{6504A85C-F4C3-41CA-98AE-6A23F8F6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54437BDD-5BC3-438F-B386-57A023B8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0CD7FCE4-48B8-4F6F-A924-F61B04BA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E40A2D3A-6111-474B-95BC-C80E6793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293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quiero investigar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1A472FF0-BE9B-4B47-B3C5-4A65636F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Proponga una condición local de energía o agua que podría medirse, alertarse o controlarse.</a:t>
            </a:r>
          </a:p>
        </p:txBody>
      </p:sp>
      <p:sp>
        <p:nvSpPr>
          <p:cNvPr id="20" name="Rectángulo redondeado 19">
            <a:extLst xmlns:a="http://schemas.openxmlformats.org/drawingml/2006/main">
              <a:ext uri="{FF2B5EF4-FFF2-40B4-BE49-F238E27FC236}">
                <a16:creationId xmlns:a16="http://schemas.microsoft.com/office/drawing/2014/main" id="{16486BD1-3AF9-46A1-A1B7-3133CB80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43500"/>
            <a:ext cx="87249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8971B92D-E066-4AF2-AA6C-A72CEAD3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95900"/>
            <a:ext cx="8001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Próxima semana: diodos, rectificación, filtrado y regulación Zener.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D1F8CCC8-8694-482D-8A1F-9900CFB7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210300"/>
            <a:ext cx="857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Fuentes base: syllabus del curso · Boylestad y Nashelsky · Hayt, Kemmerly y Durbin</a:t>
            </a:r>
          </a:p>
        </p:txBody>
      </p:sp>
    </p:spTree>
    <p:extLst>
      <p:ext uri="{BB962C8B-B14F-4D97-AF65-F5344CB8AC3E}">
        <p14:creationId xmlns:p14="http://schemas.microsoft.com/office/powerpoint/2010/main" val="12807095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E1254735-5F44-4209-9269-AFB10E77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CONCLUSIÓN Y CONEXIÓN ABP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6843431F-C091-444A-A8EB-09D484DE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Los fundamentos se convierten en una decisión de diseño</a:t>
            </a:r>
          </a:p>
        </p:txBody>
      </p:sp>
      <p:cxnSp>
        <p:nvCxnSpPr>
          <p:cNvPr id="18" name="Conector recto de flecha 13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801A63C7-28AF-4186-9E75-C5C3FF7E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16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77417EAE-3811-44FF-81F5-878BD3FD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486400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Esta semana recuperamos circuitos, medición y señales. Ese lenguaje permitirá construir una etapa AC/DC segura, medir su comportamiento y justificar cada elección.</a:t>
            </a:r>
          </a:p>
        </p:txBody>
      </p:sp>
      <p:sp>
        <p:nvSpPr>
          <p:cNvPr id="6" name="Rectángulo redondeado 5">
            <a:extLst xmlns:a="http://schemas.openxmlformats.org/drawingml/2006/main">
              <a:ext uri="{FF2B5EF4-FFF2-40B4-BE49-F238E27FC236}">
                <a16:creationId xmlns:a16="http://schemas.microsoft.com/office/drawing/2014/main" id="{7AE1C926-6C99-4023-A177-4BBC5C76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548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C1BBF70B-EFB6-472C-8B8C-F0F78DDB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48387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El proyecto empieza cuando una necesidad local se convierte en una variable medible, un criterio de éxito y una solución que puede probarse.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26D37A40-B1B4-4B32-848D-6012907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5486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35A66F"/>
                </a:solidFill>
                <a:latin typeface="Aptos"/>
                <a:ea typeface="Aptos"/>
                <a:cs typeface="Aptos"/>
              </a:defRPr>
            </a:pPr>
            <a:r>
              <a:t>Siguiente paso: elegir una condición de energía o agua y definir qué necesitamos medir.</a:t>
            </a:r>
          </a:p>
        </p:txBody>
      </p:sp>
      <p:sp>
        <p:nvSpPr>
          <p:cNvPr id="9" name="Rectángulo redondeado 8">
            <a:extLst xmlns:a="http://schemas.openxmlformats.org/drawingml/2006/main">
              <a:ext uri="{FF2B5EF4-FFF2-40B4-BE49-F238E27FC236}">
                <a16:creationId xmlns:a16="http://schemas.microsoft.com/office/drawing/2014/main" id="{3860BC8A-A99E-4A98-B2D8-A5B05FC6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5086350" cy="3771900"/>
          </a:xfrm>
          <a:prstGeom xmlns:a="http://schemas.openxmlformats.org/drawingml/2006/main" prst="roundRect">
            <a:avLst>
              <a:gd name="adj" fmla="val 20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5" name="Imagen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66f9fb00540a6"/>
          <a:srcRect xmlns:a="http://schemas.openxmlformats.org/drawingml/2006/main" l="0" t="1807" r="0" b="18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4650" y="1981200"/>
            <a:ext cx="4743450" cy="3429000"/>
          </a:xfrm>
          <a:prstGeom xmlns:a="http://schemas.openxmlformats.org/drawingml/2006/main" prst="rect">
            <a:avLst/>
          </a:prstGeom>
        </p:spPr>
      </p:pic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8A255AC8-03D4-4040-8313-CC080677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695950"/>
            <a:ext cx="474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AcornToOak / Wikimedia Commons · CC BY-SA 4.0</a:t>
            </a:r>
          </a:p>
        </p:txBody>
      </p:sp>
    </p:spTree>
    <p:extLst>
      <p:ext uri="{BB962C8B-B14F-4D97-AF65-F5344CB8AC3E}">
        <p14:creationId xmlns:p14="http://schemas.microsoft.com/office/powerpoint/2010/main" val="15280644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2026-07-22T15:37:44.4810000Z</dcterms:created>
  <dcterms:modified xsi:type="dcterms:W3CDTF">2026-07-22T15:37:44.4810000Z</dcterms:modified>
</coreProperties>
</file>