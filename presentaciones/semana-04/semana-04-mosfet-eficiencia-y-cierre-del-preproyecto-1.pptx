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02abc4d966a483a" /><Relationship Type="http://schemas.openxmlformats.org/officeDocument/2006/relationships/extended-properties" Target="/docProps/app.xml" Id="Rc78cc2a1e3b8430d" /><Relationship Type="http://schemas.openxmlformats.org/officeDocument/2006/relationships/officeDocument" Target="/ppt/presentation.xml" Id="Re6d94e0e6a6a4de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52b19ff3a334583"/>
  </p:sldMasterIdLst>
  <p:notesMasterIdLst>
    <p:notesMasterId xmlns:r="http://schemas.openxmlformats.org/officeDocument/2006/relationships" r:id="Rb55e84ae94ca4b43"/>
  </p:notesMasterIdLst>
  <p:sldIdLst>
    <p:sldId xmlns:r="http://schemas.openxmlformats.org/officeDocument/2006/relationships" id="256" r:id="R28051c6c66ba40eb"/>
    <p:sldId xmlns:r="http://schemas.openxmlformats.org/officeDocument/2006/relationships" id="257" r:id="R5b35fd9da8b94d5d"/>
    <p:sldId xmlns:r="http://schemas.openxmlformats.org/officeDocument/2006/relationships" id="258" r:id="R9136a89af0bc4c09"/>
    <p:sldId xmlns:r="http://schemas.openxmlformats.org/officeDocument/2006/relationships" id="259" r:id="Rbc6fe471232b4715"/>
    <p:sldId xmlns:r="http://schemas.openxmlformats.org/officeDocument/2006/relationships" id="260" r:id="R11a31db7ffa44187"/>
    <p:sldId xmlns:r="http://schemas.openxmlformats.org/officeDocument/2006/relationships" id="261" r:id="Rfb6dc4d9d0d44795"/>
    <p:sldId xmlns:r="http://schemas.openxmlformats.org/officeDocument/2006/relationships" id="262" r:id="R4bc93c9e3e744524"/>
    <p:sldId xmlns:r="http://schemas.openxmlformats.org/officeDocument/2006/relationships" id="263" r:id="Rfc464cae6d604453"/>
    <p:sldId xmlns:r="http://schemas.openxmlformats.org/officeDocument/2006/relationships" id="264" r:id="R0923ad9a0d6743f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a5250077bf74b25" /><Relationship Type="http://schemas.openxmlformats.org/officeDocument/2006/relationships/slideMaster" Target="/ppt/slideMasters/slideMaster1.xml" Id="Rd52b19ff3a334583" /><Relationship Type="http://schemas.openxmlformats.org/officeDocument/2006/relationships/notesMaster" Target="/ppt/notesMasters/notesMaster1.xml" Id="Rb55e84ae94ca4b43" /><Relationship Type="http://schemas.openxmlformats.org/officeDocument/2006/relationships/presProps" Target="/ppt/presProps.xml" Id="R7badd846803c4f6d" /><Relationship Type="http://schemas.openxmlformats.org/officeDocument/2006/relationships/tableStyles" Target="/ppt/tableStyles.xml" Id="Rc6f44c6b1e174de0" /><Relationship Type="http://schemas.openxmlformats.org/officeDocument/2006/relationships/slide" Target="/ppt/slides/slide1.xml" Id="R28051c6c66ba40eb" /><Relationship Type="http://schemas.openxmlformats.org/officeDocument/2006/relationships/slide" Target="/ppt/slides/slide2.xml" Id="R5b35fd9da8b94d5d" /><Relationship Type="http://schemas.openxmlformats.org/officeDocument/2006/relationships/slide" Target="/ppt/slides/slide3.xml" Id="R9136a89af0bc4c09" /><Relationship Type="http://schemas.openxmlformats.org/officeDocument/2006/relationships/slide" Target="/ppt/slides/slide4.xml" Id="Rbc6fe471232b4715" /><Relationship Type="http://schemas.openxmlformats.org/officeDocument/2006/relationships/slide" Target="/ppt/slides/slide5.xml" Id="R11a31db7ffa44187" /><Relationship Type="http://schemas.openxmlformats.org/officeDocument/2006/relationships/slide" Target="/ppt/slides/slide6.xml" Id="Rfb6dc4d9d0d44795" /><Relationship Type="http://schemas.openxmlformats.org/officeDocument/2006/relationships/slide" Target="/ppt/slides/slide7.xml" Id="R4bc93c9e3e744524" /><Relationship Type="http://schemas.openxmlformats.org/officeDocument/2006/relationships/slide" Target="/ppt/slides/slide8.xml" Id="Rfc464cae6d604453" /><Relationship Type="http://schemas.openxmlformats.org/officeDocument/2006/relationships/slide" Target="/ppt/slides/slide9.xml" Id="R0923ad9a0d6743f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48078735f6346a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3932613acec45a3" /><Relationship Type="http://schemas.openxmlformats.org/officeDocument/2006/relationships/notesMaster" Target="/ppt/notesMasters/notesMaster1.xml" Id="R24d08a7e513348b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3def839c0e941bd" /><Relationship Type="http://schemas.openxmlformats.org/officeDocument/2006/relationships/notesMaster" Target="/ppt/notesMasters/notesMaster1.xml" Id="R4fcc1876389d4d5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b6cd6f94db34047" /><Relationship Type="http://schemas.openxmlformats.org/officeDocument/2006/relationships/notesMaster" Target="/ppt/notesMasters/notesMaster1.xml" Id="R9aaf0e8aeb4b44f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6d1126954754f3c" /><Relationship Type="http://schemas.openxmlformats.org/officeDocument/2006/relationships/notesMaster" Target="/ppt/notesMasters/notesMaster1.xml" Id="Rfb68429985fb4ce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b5191689b44496e" /><Relationship Type="http://schemas.openxmlformats.org/officeDocument/2006/relationships/notesMaster" Target="/ppt/notesMasters/notesMaster1.xml" Id="R218ea43ab58b4ed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dede2c650984343" /><Relationship Type="http://schemas.openxmlformats.org/officeDocument/2006/relationships/notesMaster" Target="/ppt/notesMasters/notesMaster1.xml" Id="Rb8312f332892448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cb82ee450f54401" /><Relationship Type="http://schemas.openxmlformats.org/officeDocument/2006/relationships/notesMaster" Target="/ppt/notesMasters/notesMaster1.xml" Id="R55965563895847d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fde149918434416" /><Relationship Type="http://schemas.openxmlformats.org/officeDocument/2006/relationships/notesMaster" Target="/ppt/notesMasters/notesMaster1.xml" Id="R0fab2b3047914fc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3345d92310148fe" /><Relationship Type="http://schemas.openxmlformats.org/officeDocument/2006/relationships/notesMaster" Target="/ppt/notesMasters/notesMaster1.xml" Id="R68657282bccb44c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84d66d49d044a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b4138bb40c34430" /><Relationship Type="http://schemas.openxmlformats.org/officeDocument/2006/relationships/slideLayout" Target="/ppt/slideLayouts/slideLayout1.xml" Id="R2ff552017ae14fd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ff552017ae14fd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7fbf502cf14f52" /><Relationship Type="http://schemas.openxmlformats.org/officeDocument/2006/relationships/image" Target="/ppt/media/image.jpeg" Id="R84176bf8b3e04314" /><Relationship Type="http://schemas.openxmlformats.org/officeDocument/2006/relationships/notesSlide" Target="/ppt/notesSlides/notesSlide1.xml" Id="R3ac9069227ae4b0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a749183b0f4f03" /><Relationship Type="http://schemas.openxmlformats.org/officeDocument/2006/relationships/notesSlide" Target="/ppt/notesSlides/notesSlide2.xml" Id="Raaf5eb8b030544a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737bd451d84bad" /><Relationship Type="http://schemas.openxmlformats.org/officeDocument/2006/relationships/notesSlide" Target="/ppt/notesSlides/notesSlide3.xml" Id="R9585a62ed7904f1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15d164c8d548a0" /><Relationship Type="http://schemas.openxmlformats.org/officeDocument/2006/relationships/notesSlide" Target="/ppt/notesSlides/notesSlide4.xml" Id="R21e735f3185c463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7f2aef515c45b4" /><Relationship Type="http://schemas.openxmlformats.org/officeDocument/2006/relationships/notesSlide" Target="/ppt/notesSlides/notesSlide5.xml" Id="Rf12770f169a34ca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317fc32793419f" /><Relationship Type="http://schemas.openxmlformats.org/officeDocument/2006/relationships/notesSlide" Target="/ppt/notesSlides/notesSlide6.xml" Id="R84018fb18c8a4bb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ee792ccd2d4a82" /><Relationship Type="http://schemas.openxmlformats.org/officeDocument/2006/relationships/notesSlide" Target="/ppt/notesSlides/notesSlide7.xml" Id="R97ffd37cc535445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7754b0f76b4ba8" /><Relationship Type="http://schemas.openxmlformats.org/officeDocument/2006/relationships/notesSlide" Target="/ppt/notesSlides/notesSlide8.xml" Id="R53dc8d5ccdec49a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8a70c403d04c66" /><Relationship Type="http://schemas.openxmlformats.org/officeDocument/2006/relationships/notesSlide" Target="/ppt/notesSlides/notesSlide9.xml" Id="Rd1645a54a59c4ad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D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8FFFF1-2D8C-47DB-8974-C7F28E0ED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286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D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1CE028-4F97-43AD-8AAE-A63F6FB1C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340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1D9E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1D9EC"/>
                </a:solidFill>
                <a:latin typeface="Aptos"/>
                <a:ea typeface="Aptos"/>
                <a:cs typeface="Aptos"/>
              </a:rPr>
              <a:t>ELECTRÓNICA ANALÓGICA Y DIGITAL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1C4F1F-1C84-4DF9-9E17-38221DF8F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28750"/>
            <a:ext cx="52197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MOSFET, eficiencia y cierre del Preproyecto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C2A28F-AD3D-42CF-AF7A-7379800A2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33800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Semana 4 · Ingeniería Eléctrica · 2026-2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F34971-6135-4A83-8384-D1C991D68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1485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A5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E58226-5FF7-4B26-BF70-C22DF5851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62500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Controlar potencia desde una entrada de alta impedancia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176bf8b3e04314"/>
          <a:srcRect xmlns:a="http://schemas.openxmlformats.org/drawingml/2006/main" l="25700" t="0" r="257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0" y="0"/>
            <a:ext cx="5905500" cy="68580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6F80AD-656E-4F69-97DD-E7783C166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6353175"/>
            <a:ext cx="533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D2D">
              <a:alpha val="7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509AF5-3716-4735-9F42-46C3B0D4D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381750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Foto/diagrama: FDominec · Wikimedia Commons · CC BY-SA 3.0</a:t>
            </a:r>
          </a:p>
        </p:txBody>
      </p:sp>
    </p:spTree>
    <p:extLst>
      <p:ext uri="{BB962C8B-B14F-4D97-AF65-F5344CB8AC3E}">
        <p14:creationId xmlns:p14="http://schemas.microsoft.com/office/powerpoint/2010/main" val="110697574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5B3BE9-3B58-4039-A731-408B0F831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3A9C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3A9C7"/>
                </a:solidFill>
                <a:latin typeface="Aptos"/>
                <a:ea typeface="Aptos"/>
                <a:cs typeface="Aptos"/>
              </a:rPr>
              <a:t>INTRODUCCIÓN Y RUTA ACTIVA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741EC4-6E69-4756-9FC2-66A9728CC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Lo que conectamos y lo que haremos hoy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F41799-96C7-4518-A5A3-ECCB2DDFC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3A9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EA7E8A-81DD-43D7-AFEC-214057328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055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36D7D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5392E9-AE0B-4229-AD45-80996AD77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9545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536D7D"/>
                </a:solidFill>
                <a:latin typeface="Aptos"/>
                <a:ea typeface="Aptos"/>
                <a:cs typeface="Aptos"/>
              </a:rPr>
              <a:t>El BJT conmuta con corriente de base. El MOSFET permite comparar otra forma de control.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0BD089-CDE8-435D-AC4E-AC053B614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81300"/>
            <a:ext cx="238125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7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E188B6-912F-42D9-A77B-623EFAC17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71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A9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93AE75-0003-4C57-9B4F-D868A5F08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718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D48B19-1F04-400A-A881-B961EEE59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95600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Activar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A50C3A-340D-49E2-8FA8-CC6C4AB45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781300"/>
            <a:ext cx="238125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1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F64682-053C-4632-9DA7-96D9B8439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971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A5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485E4B-0817-40B0-8E61-F2E392A05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9718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65A67D-BECB-4989-BA13-30F72605F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895600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Comprender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14D31E-2950-4702-B3F8-C76AF5448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781300"/>
            <a:ext cx="238125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CF3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F277D5-5312-4E23-923C-BEC878A0E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71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A6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AA3C1D-5394-4981-A427-5777501F2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718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771205-6EA7-4BE5-9A2D-1526C8034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895600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Experimentar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9D7E6C-8E2C-4247-804E-7B83E554D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781300"/>
            <a:ext cx="238125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8E6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1940E9-C7DD-40F9-97AC-2CB2583FB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971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567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E0CE73-AFDF-4F29-89BB-8D8918860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9718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EF28BE-792C-4502-BA73-D8CE3E8B2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895600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Conectar con ABP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1FD758-3CE1-4A03-B3A5-4F5A17EB4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24400"/>
            <a:ext cx="10287000" cy="8001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71D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CF0BBE-36F2-42B9-9EFD-58D8073AF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57750"/>
            <a:ext cx="971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Hoy hay Laboratorio A03: teoría breve, predicción, montaje, medición y análisis.</a:t>
            </a:r>
          </a:p>
        </p:txBody>
      </p:sp>
    </p:spTree>
    <p:extLst>
      <p:ext uri="{BB962C8B-B14F-4D97-AF65-F5344CB8AC3E}">
        <p14:creationId xmlns:p14="http://schemas.microsoft.com/office/powerpoint/2010/main" val="106447454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D10FA0-649C-409C-A984-7CA55E1DA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3A9C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3A9C7"/>
                </a:solidFill>
                <a:latin typeface="Aptos"/>
                <a:ea typeface="Aptos"/>
                <a:cs typeface="Aptos"/>
              </a:rPr>
              <a:t>OBJETIVOS DE APRENDIZAJE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6091C3-BD9C-4D8E-ABE9-F996CC72F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Al finalizar esta semana podrás…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D0BCDD-5BC7-4FB5-BB59-EFC2F3321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3A9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5FC075-EDDF-4988-9C3C-1678EFB77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055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36D7D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BC6765-5862-4018-84E9-E01CCDBEC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43100"/>
            <a:ext cx="3352800" cy="2857500"/>
          </a:xfrm>
          <a:prstGeom xmlns:a="http://schemas.openxmlformats.org/drawingml/2006/main" prst="roundRect">
            <a:avLst>
              <a:gd name="adj" fmla="val 4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8E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4CFE6C-6575-4BB1-8F76-2E31B4F67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A9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0A7AB2-79D9-4224-AA09-F425C6802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1A25C4-1254-426F-9A5E-B21258DE9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07645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Comprender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8B07C9-7A7D-424A-A411-667E7F6B3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24150"/>
            <a:ext cx="29146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36D7D"/>
                </a:solidFill>
                <a:latin typeface="Aptos"/>
                <a:ea typeface="Aptos"/>
                <a:cs typeface="Aptos"/>
              </a:rPr>
              <a:t>Interpretar VGS, VDS, ID y RDS(on).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C563B0-FE05-42E9-B852-2A544552B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43100"/>
            <a:ext cx="3352800" cy="2857500"/>
          </a:xfrm>
          <a:prstGeom xmlns:a="http://schemas.openxmlformats.org/drawingml/2006/main" prst="roundRect">
            <a:avLst>
              <a:gd name="adj" fmla="val 4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8E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F69D3A-9FC9-437D-B59A-6C3D80ABF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1336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A5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DA3C05-A11E-4B47-9143-4BC1C02CF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1336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2B7EC1-5DC5-4B65-A5AC-BC6502714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07645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Aplicar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4BB8E9-A32C-441C-8A93-051DA09F5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724150"/>
            <a:ext cx="29146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36D7D"/>
                </a:solidFill>
                <a:latin typeface="Aptos"/>
                <a:ea typeface="Aptos"/>
                <a:cs typeface="Aptos"/>
              </a:rPr>
              <a:t>Diseñar una conmutación de lado bajo con protección.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1C2CBE-11B2-4470-8A7B-CABF3A2FD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943100"/>
            <a:ext cx="3352800" cy="2857500"/>
          </a:xfrm>
          <a:prstGeom xmlns:a="http://schemas.openxmlformats.org/drawingml/2006/main" prst="roundRect">
            <a:avLst>
              <a:gd name="adj" fmla="val 4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8E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95C708-1C45-497D-8638-F1CAC650C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1336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A6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FD4D50-6D66-44BE-A819-CDA5D98B3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1336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931705-AB20-4AD6-AF6C-C0C87F22C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07645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Integrar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DF8211-EFAD-4FF6-9C2E-03F3D7178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724150"/>
            <a:ext cx="29146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36D7D"/>
                </a:solidFill>
                <a:latin typeface="Aptos"/>
                <a:ea typeface="Aptos"/>
                <a:cs typeface="Aptos"/>
              </a:rPr>
              <a:t>Comparar BJT y MOSFET con evidencia y cerrar el Preproyecto 1.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26755C-4C43-4ED3-83BE-32FBD52E7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81625"/>
            <a:ext cx="990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Evidencia: preinforme/trabajo en clase + mediciones + informe + aporte individual.</a:t>
            </a:r>
          </a:p>
        </p:txBody>
      </p:sp>
    </p:spTree>
    <p:extLst>
      <p:ext uri="{BB962C8B-B14F-4D97-AF65-F5344CB8AC3E}">
        <p14:creationId xmlns:p14="http://schemas.microsoft.com/office/powerpoint/2010/main" val="197618664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3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BDDEE0E-A906-402D-AF1F-3E43B40C7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3A9C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3A9C7"/>
                </a:solidFill>
                <a:latin typeface="Aptos"/>
                <a:ea typeface="Aptos"/>
                <a:cs typeface="Aptos"/>
              </a:rPr>
              <a:t>CONCEPTOS ESENCIALES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F3B68F-7753-49F9-8906-102BFA591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Cuatro ideas para explicar el comportamiento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BCA11B-00D2-4BCB-8867-279DA2231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3A9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D2FD48-6785-4756-A735-7574D6EB1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055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36D7D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9B6AE8-869C-443A-B468-7DD410D8F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90700"/>
            <a:ext cx="5143500" cy="1695450"/>
          </a:xfrm>
          <a:prstGeom xmlns:a="http://schemas.openxmlformats.org/drawingml/2006/main" prst="roundRect">
            <a:avLst>
              <a:gd name="adj" fmla="val 78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8E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31AC86-D754-4DD3-84D3-C61E634B2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A9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8A760E-34B5-4280-BF34-A5839EFF8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9A2601-BA4F-4D3C-AD09-CC65D6C05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943100"/>
            <a:ext cx="390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Compuerta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EA15C8-E227-4512-976F-54E945193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4648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D7D"/>
                </a:solidFill>
                <a:latin typeface="Aptos"/>
                <a:ea typeface="Aptos"/>
                <a:cs typeface="Aptos"/>
              </a:rPr>
              <a:t>Se controla por voltaje y debe quedar definida con resistencia pull-down.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A72635-8627-477D-B620-D0B3C3060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790700"/>
            <a:ext cx="5143500" cy="1695450"/>
          </a:xfrm>
          <a:prstGeom xmlns:a="http://schemas.openxmlformats.org/drawingml/2006/main" prst="roundRect">
            <a:avLst>
              <a:gd name="adj" fmla="val 78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8E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5E1093-5655-4BCD-9E3F-B0ED8051F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0002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A5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EC3925-CA08-4BF8-A751-04C80BE8A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0002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72279C-46E9-46C0-8651-5BA1C8A9C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1943100"/>
            <a:ext cx="390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VGS(th)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02578C-B21F-46A5-A924-EFB18E9D5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533650"/>
            <a:ext cx="4648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D7D"/>
                </a:solidFill>
                <a:latin typeface="Aptos"/>
                <a:ea typeface="Aptos"/>
                <a:cs typeface="Aptos"/>
              </a:rPr>
              <a:t>Es el inicio de conducción, no garantiza encendido completo.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3B1BBA-FD9E-4CDF-A405-65A841E79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05250"/>
            <a:ext cx="5143500" cy="1695450"/>
          </a:xfrm>
          <a:prstGeom xmlns:a="http://schemas.openxmlformats.org/drawingml/2006/main" prst="roundRect">
            <a:avLst>
              <a:gd name="adj" fmla="val 78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8E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7635FE-1932-4B4C-A3B2-3A71DDE94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14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A6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620002-0FA4-4B77-B747-241F45B07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148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0D8C82-5031-4747-BF05-F57807E97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57650"/>
            <a:ext cx="390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RDS(on)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CFB77E-5644-42E4-BE61-8469CEC6F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48200"/>
            <a:ext cx="4648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D7D"/>
                </a:solidFill>
                <a:latin typeface="Aptos"/>
                <a:ea typeface="Aptos"/>
                <a:cs typeface="Aptos"/>
              </a:rPr>
              <a:t>Determina pérdidas de conducción cuando el dispositivo está activado.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198844-25BC-4FF6-86A5-525B43BFE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905250"/>
            <a:ext cx="5143500" cy="1695450"/>
          </a:xfrm>
          <a:prstGeom xmlns:a="http://schemas.openxmlformats.org/drawingml/2006/main" prst="roundRect">
            <a:avLst>
              <a:gd name="adj" fmla="val 78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8E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1BB01E-280F-4B94-80DA-2F325746E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114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567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267418-E310-474A-90D7-CA62B42E8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1148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75CEF9-46BE-41D9-8CE3-70567CDB1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057650"/>
            <a:ext cx="390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PWM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57B5DF8-FE77-4F3E-9814-39B5F4089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648200"/>
            <a:ext cx="4648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D7D"/>
                </a:solidFill>
                <a:latin typeface="Aptos"/>
                <a:ea typeface="Aptos"/>
                <a:cs typeface="Aptos"/>
              </a:rPr>
              <a:t>La conmutación rápida permite regular potencia promedio de una carga.</a:t>
            </a:r>
          </a:p>
        </p:txBody>
      </p:sp>
    </p:spTree>
    <p:extLst>
      <p:ext uri="{BB962C8B-B14F-4D97-AF65-F5344CB8AC3E}">
        <p14:creationId xmlns:p14="http://schemas.microsoft.com/office/powerpoint/2010/main" val="122360550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3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5809DC-5565-488A-950A-4A371F447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3A9C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3A9C7"/>
                </a:solidFill>
                <a:latin typeface="Aptos"/>
                <a:ea typeface="Aptos"/>
                <a:cs typeface="Aptos"/>
              </a:rPr>
              <a:t>EJEMPLO GUIADO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863C0C-0F4B-49F2-A688-80295E6C9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Pérdidas de conducción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019B6F-00FD-4CDB-9F23-419826323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3A9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9A922E-3741-4067-8EB4-7294EB4DE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055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36D7D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7D4569-AB35-428F-A0E6-72DB5A09F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28800"/>
            <a:ext cx="4686300" cy="3429000"/>
          </a:xfrm>
          <a:prstGeom xmlns:a="http://schemas.openxmlformats.org/drawingml/2006/main" prst="roundRect">
            <a:avLst>
              <a:gd name="adj" fmla="val 3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8E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9935F7-F4D3-4BC3-BF91-8C12E3A5F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33600"/>
            <a:ext cx="3886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ID = 2 A · RDS(on) = 0,05 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B02FB9-D410-40F3-B105-3033B517E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05250"/>
            <a:ext cx="4095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36D7D"/>
                </a:solidFill>
                <a:latin typeface="Aptos"/>
                <a:ea typeface="Aptos"/>
                <a:cs typeface="Aptos"/>
              </a:rPr>
              <a:t>Primero: represente datos, unidades y supuestos.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258EC2-F5B5-4399-9DF2-4485969CF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828800"/>
            <a:ext cx="5600700" cy="3429000"/>
          </a:xfrm>
          <a:prstGeom xmlns:a="http://schemas.openxmlformats.org/drawingml/2006/main" prst="roundRect">
            <a:avLst>
              <a:gd name="adj" fmla="val 3889"/>
            </a:avLst>
          </a:prstGeom>
          <a:solidFill xmlns:a="http://schemas.openxmlformats.org/drawingml/2006/main">
            <a:srgbClr val="071D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156304-24D3-43E0-888C-5D75FB1A7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43150"/>
            <a:ext cx="4648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 = I²R = 2² × 0,05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1C22C3-F243-4BC1-A029-BA864F2A0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638550"/>
            <a:ext cx="4648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1D9E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61D9EC"/>
                </a:solidFill>
                <a:latin typeface="Aptos"/>
                <a:ea typeface="Aptos"/>
                <a:cs typeface="Aptos"/>
              </a:rPr>
              <a:t>P = 0,20 W; compárela con la solución BJT y revise temperatura.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D6D2BE-5F6D-430E-9186-7D41608B9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715000"/>
            <a:ext cx="990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D94C4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D94C4C"/>
                </a:solidFill>
                <a:latin typeface="Aptos"/>
                <a:ea typeface="Aptos"/>
                <a:cs typeface="Aptos"/>
              </a:rPr>
              <a:t>Pregunta al equipo: ¿qué mediría para comprobarlo y qué resultado haría cambiar la decisión?</a:t>
            </a:r>
          </a:p>
        </p:txBody>
      </p:sp>
    </p:spTree>
    <p:extLst>
      <p:ext uri="{BB962C8B-B14F-4D97-AF65-F5344CB8AC3E}">
        <p14:creationId xmlns:p14="http://schemas.microsoft.com/office/powerpoint/2010/main" val="177634423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3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E5A584-1805-4CAD-B079-5A9208704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3A9C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3A9C7"/>
                </a:solidFill>
                <a:latin typeface="Aptos"/>
                <a:ea typeface="Aptos"/>
                <a:cs typeface="Aptos"/>
              </a:rPr>
              <a:t>ACTIVIDAD ACTIVA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6384A7-FBD0-481B-AA5E-25280FAC6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Prediga, contraste y explique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F87C8B-C4E6-45D9-9D36-1B8313DE3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3A9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D511DA-D862-483D-AE25-52204F337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055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36D7D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2E4CB0-F218-4F7D-A267-BC614FFD1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24050"/>
            <a:ext cx="11087100" cy="95250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8E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C3559C-28A0-4270-BA2E-0C4E92B7B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526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A9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550AFC-059D-4385-B9C8-5B26A310D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526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76F97D-11B0-4FDB-AD8A-C59E51E0F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38350"/>
            <a:ext cx="962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Quiz 1: ejercicios analógicos al inicio.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E28963-42C6-4152-8372-5657D0F94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81350"/>
            <a:ext cx="11087100" cy="95250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8E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00D4FD-BF89-4CA3-8BF4-B8DA58255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099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A5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0B825F-26EF-4927-A96B-15E2BA0CF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099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CB735C-DE74-40F5-B8C0-4F81089B1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95650"/>
            <a:ext cx="962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Compare VCE(sat) y VDS(on) bajo la misma carga.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325183-0578-4949-893C-5FCBED83E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38650"/>
            <a:ext cx="11087100" cy="95250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8E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008A3C-DBC1-4F5D-BC6F-7829CE7C4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672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A6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C68D64-E5FD-4AEC-962F-A206F5F7D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672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96C0E4-F42D-4267-BC47-ED4804CC0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52950"/>
            <a:ext cx="962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Decida qué dispositivo usaría y defienda la elección.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65BD22-DF9B-48FB-81D0-07D6DA60D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848350"/>
            <a:ext cx="948690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071D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6FBFE0-1646-4E48-B47E-28A832299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905500"/>
            <a:ext cx="895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Cada respuesta debe incluir una razón técnica, no solo el resultado.</a:t>
            </a:r>
          </a:p>
        </p:txBody>
      </p:sp>
    </p:spTree>
    <p:extLst>
      <p:ext uri="{BB962C8B-B14F-4D97-AF65-F5344CB8AC3E}">
        <p14:creationId xmlns:p14="http://schemas.microsoft.com/office/powerpoint/2010/main" val="27446230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3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D82B03-B919-46EE-9DB1-5FEC3C68E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3A9C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3A9C7"/>
                </a:solidFill>
                <a:latin typeface="Aptos"/>
                <a:ea typeface="Aptos"/>
                <a:cs typeface="Aptos"/>
              </a:rPr>
              <a:t>PRÁCTICA DE LABORATORIO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FE139E-4CB0-4E76-B188-F8B3D576A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Laboratorio A03 · MOSFET como interruptor, motor y PWM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97A4E7-1A24-438F-957F-97DE21EDE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3A9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65EF42-742F-48FC-B606-EBC9EC34A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055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36D7D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E2BDB5-731F-43B5-A1B2-15ACF3224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28800"/>
            <a:ext cx="4953000" cy="1809750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8E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145841-2517-44C0-9507-97DCA8A30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81200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Materiales clave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151685-40F8-4892-AB21-E976D2836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4286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D7D"/>
                </a:solidFill>
                <a:latin typeface="Aptos"/>
                <a:ea typeface="Aptos"/>
                <a:cs typeface="Aptos"/>
              </a:rPr>
              <a:t>MOSFET canal N · carga DC · diodo · resistencias de compuerta y pull-down · fuente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71138F-A443-47B0-8683-C05C16AAB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828800"/>
            <a:ext cx="5562600" cy="1809750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FFF1D2"/>
          </a:solidFill>
          <a:ln xmlns:a="http://schemas.openxmlformats.org/drawingml/2006/main" w="9525">
            <a:solidFill>
              <a:srgbClr val="F6A51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FD45F2-F1E3-4731-B97B-1A01B53C5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981200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Seguridad y punto de cuidado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FBA05E-B924-4F7C-8A2B-BCD113985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95550"/>
            <a:ext cx="5048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293B"/>
                </a:solidFill>
                <a:latin typeface="Aptos"/>
                <a:ea typeface="Aptos"/>
                <a:cs typeface="Aptos"/>
              </a:rPr>
              <a:t>Use MOSFET compatible con el voltaje de control. Proteja cargas inductivas y no deje la compuerta flotante.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272023-5696-4A20-8B81-A056333FB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91000"/>
            <a:ext cx="3238500" cy="1219200"/>
          </a:xfrm>
          <a:prstGeom xmlns:a="http://schemas.openxmlformats.org/drawingml/2006/main" prst="roundRect">
            <a:avLst>
              <a:gd name="adj" fmla="val 10938"/>
            </a:avLst>
          </a:prstGeom>
          <a:solidFill xmlns:a="http://schemas.openxmlformats.org/drawingml/2006/main">
            <a:srgbClr val="D7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BED0C4-DFD8-4566-8434-7E1201D03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24350"/>
            <a:ext cx="76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815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3A9C7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3A9C7"/>
                </a:solidFill>
                <a:latin typeface="Aptos"/>
                <a:ea typeface="Aptos"/>
                <a:cs typeface="Aptos"/>
              </a:rPr>
              <a:t>30%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386382-88C3-454E-B0CE-611B1E25D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286250"/>
            <a:ext cx="200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Preinforme y trabajo en clase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9DFC93-6EA6-42C8-8EFA-59282F9F8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191000"/>
            <a:ext cx="3238500" cy="1219200"/>
          </a:xfrm>
          <a:prstGeom xmlns:a="http://schemas.openxmlformats.org/drawingml/2006/main" prst="roundRect">
            <a:avLst>
              <a:gd name="adj" fmla="val 10938"/>
            </a:avLst>
          </a:prstGeom>
          <a:solidFill xmlns:a="http://schemas.openxmlformats.org/drawingml/2006/main">
            <a:srgbClr val="DCF3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84AE68-4E56-4109-804D-E4C9F67D9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324350"/>
            <a:ext cx="76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815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2A66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32A66F"/>
                </a:solidFill>
                <a:latin typeface="Aptos"/>
                <a:ea typeface="Aptos"/>
                <a:cs typeface="Aptos"/>
              </a:rPr>
              <a:t>40%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AB4CC3-9BEB-42F4-9FA5-DBBE44649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286250"/>
            <a:ext cx="200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Informe completo del equipo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0AC5CA-9B7D-40F7-A589-88287BBF1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191000"/>
            <a:ext cx="3238500" cy="1219200"/>
          </a:xfrm>
          <a:prstGeom xmlns:a="http://schemas.openxmlformats.org/drawingml/2006/main" prst="roundRect">
            <a:avLst>
              <a:gd name="adj" fmla="val 10938"/>
            </a:avLst>
          </a:prstGeom>
          <a:solidFill xmlns:a="http://schemas.openxmlformats.org/drawingml/2006/main">
            <a:srgbClr val="E8E6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405E8B-78EE-422C-83A6-C63773457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324350"/>
            <a:ext cx="76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815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7567B5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7567B5"/>
                </a:solidFill>
                <a:latin typeface="Aptos"/>
                <a:ea typeface="Aptos"/>
                <a:cs typeface="Aptos"/>
              </a:rPr>
              <a:t>30%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055D4E-7A43-4B8B-8216-25B2F9540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286250"/>
            <a:ext cx="200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Aporte y sustentación individual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576ADF-8173-4EFF-9B48-568EE4AAE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82930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Equipos de 3 · roles rotativos · cada integrante registra qué hizo y qué decisión tomó.</a:t>
            </a:r>
          </a:p>
        </p:txBody>
      </p:sp>
    </p:spTree>
    <p:extLst>
      <p:ext uri="{BB962C8B-B14F-4D97-AF65-F5344CB8AC3E}">
        <p14:creationId xmlns:p14="http://schemas.microsoft.com/office/powerpoint/2010/main" val="197220021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3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F211A5-B82A-4E3A-8995-F99D703B7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3A9C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3A9C7"/>
                </a:solidFill>
                <a:latin typeface="Aptos"/>
                <a:ea typeface="Aptos"/>
                <a:cs typeface="Aptos"/>
              </a:rPr>
              <a:t>CONEXIÓN ABP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4B751D-3F64-4275-8725-C1A2EE790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¿Qué aporta esta semana al proyecto?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128B91-81D9-46C7-BBC0-A489DD9C7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3A9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A5D4C0-87B8-4EEE-B5FF-1458004B6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055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36D7D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E508E4-8C8A-4A8B-B4B9-DAC65E301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47850"/>
            <a:ext cx="1074420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71D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A47617-D15C-4725-A13A-06FE71AA4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133600"/>
            <a:ext cx="9715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Entregar Preproyecto 1 con etapa AC/DC, protección, salida controlada y mejora posterior a la retroalimentación.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A598D2-45C0-4FBA-89D0-28A3105F4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43400"/>
            <a:ext cx="2095500" cy="762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D7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84FA56-35C1-4203-87F4-197B82847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57700"/>
            <a:ext cx="190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Necesidad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5DA4E8-D5C4-4EEE-98C9-EFBAB2012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457700"/>
            <a:ext cx="457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3A9C7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3A9C7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37AA08-CC61-4350-8F3F-C8EFFDB5C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343400"/>
            <a:ext cx="2095500" cy="762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FFF1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704C30-3684-4D53-9107-D72D36BE5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457700"/>
            <a:ext cx="190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Decisión técnica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3F786E-4727-406A-AFFD-38C422D2D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457700"/>
            <a:ext cx="457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3A9C7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3A9C7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E6F8EB-3C56-413B-834E-96DBB4386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343400"/>
            <a:ext cx="2095500" cy="762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DCF3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8FCCF8-E9DA-44D7-8627-B2074C38D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457700"/>
            <a:ext cx="190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Evidencia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071765-34D7-474E-8B5F-B70294847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457700"/>
            <a:ext cx="457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3A9C7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3A9C7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82F24A-D92C-4DDC-B651-6BF2D3AA1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343400"/>
            <a:ext cx="2095500" cy="762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E8E6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FBF0B0-1537-491C-A335-3DEDA8CC2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457700"/>
            <a:ext cx="190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Mejora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C8528C-2CA4-48F4-BE26-423CDB82F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73405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2A66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32A66F"/>
                </a:solidFill>
                <a:latin typeface="Aptos"/>
                <a:ea typeface="Aptos"/>
                <a:cs typeface="Aptos"/>
              </a:rPr>
              <a:t>El preproyecto orienta y permite corregir; el proyecto final valora la integración final mejorada.</a:t>
            </a:r>
          </a:p>
        </p:txBody>
      </p:sp>
    </p:spTree>
    <p:extLst>
      <p:ext uri="{BB962C8B-B14F-4D97-AF65-F5344CB8AC3E}">
        <p14:creationId xmlns:p14="http://schemas.microsoft.com/office/powerpoint/2010/main" val="55014055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3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9A6F9B-7505-40AA-8E49-939D0E65B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3A9C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3A9C7"/>
                </a:solidFill>
                <a:latin typeface="Aptos"/>
                <a:ea typeface="Aptos"/>
                <a:cs typeface="Aptos"/>
              </a:rPr>
              <a:t>CONCLUSIÓN Y SALIDA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518D9A-7B6E-415B-BCEE-B54FCD17F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Lo esencial se convierte en una decisión de diseño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96B277-DD2B-4467-ABE2-E4AE110C2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3A9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FC0BF3-A517-4916-9A49-BA79B15FE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055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36D7D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ACBC72-026A-435C-B2A0-5A6047FC2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66900"/>
            <a:ext cx="571500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1293B"/>
                </a:solidFill>
                <a:latin typeface="Aptos"/>
                <a:ea typeface="Aptos"/>
                <a:cs typeface="Aptos"/>
              </a:rPr>
              <a:t>Comparar tecnologías obliga a justificar eficiencia, nivel de control, protección y evidencia de funcionamiento: eso es diseño, no solo montaje.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24239A-5BB1-411B-91EC-94E6EECCC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57600"/>
            <a:ext cx="5715000" cy="1333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071D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774B95-BE7F-412D-B03F-871AC4AFE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10000"/>
            <a:ext cx="5048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Salida breve</a:t>
            </a:r>
          </a:p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1. ¿Qué puedo explicar?</a:t>
            </a:r>
          </a:p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2. ¿Qué evidencia obtuve?</a:t>
            </a:r>
          </a:p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3. ¿Qué debo mejorar en el ABP?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D690BE-2876-4B9C-B0B9-70C6F514C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847850"/>
            <a:ext cx="4686300" cy="3143250"/>
          </a:xfrm>
          <a:prstGeom xmlns:a="http://schemas.openxmlformats.org/drawingml/2006/main" prst="roundRect">
            <a:avLst>
              <a:gd name="adj" fmla="val 42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8E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870044-4F1F-41AE-AE8E-E36B0F6A8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095500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3A9C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3A9C7"/>
                </a:solidFill>
                <a:latin typeface="Aptos"/>
                <a:ea typeface="Aptos"/>
                <a:cs typeface="Aptos"/>
              </a:rPr>
              <a:t>Próxima conexión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FB93AD-F8FC-4CE4-B322-74E989F2E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800350"/>
            <a:ext cx="38481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Repaso integrado y Parcial 1.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0D880D-49CE-47B3-95F7-042A14257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67690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2A66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32A66F"/>
                </a:solidFill>
                <a:latin typeface="Aptos"/>
                <a:ea typeface="Aptos"/>
                <a:cs typeface="Aptos"/>
              </a:rPr>
              <a:t>Conserve cálculos, fotos, mediciones y decisiones: serán evidencia del proceso.</a:t>
            </a:r>
          </a:p>
        </p:txBody>
      </p:sp>
    </p:spTree>
    <p:extLst>
      <p:ext uri="{BB962C8B-B14F-4D97-AF65-F5344CB8AC3E}">
        <p14:creationId xmlns:p14="http://schemas.microsoft.com/office/powerpoint/2010/main" val="149107356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2026-07-22T15:31:48.4170000Z</dcterms:created>
  <dcterms:modified xsi:type="dcterms:W3CDTF">2026-07-22T15:31:48.4170000Z</dcterms:modified>
</coreProperties>
</file>