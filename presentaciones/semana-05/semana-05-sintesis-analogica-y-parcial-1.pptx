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9ee52a654a4cf6" /><Relationship Type="http://schemas.openxmlformats.org/officeDocument/2006/relationships/extended-properties" Target="/docProps/app.xml" Id="Rf191ad03d7ca4315" /><Relationship Type="http://schemas.openxmlformats.org/officeDocument/2006/relationships/officeDocument" Target="/ppt/presentation.xml" Id="Rbc19991c90a04b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7805f60a5349c9"/>
  </p:sldMasterIdLst>
  <p:notesMasterIdLst>
    <p:notesMasterId xmlns:r="http://schemas.openxmlformats.org/officeDocument/2006/relationships" r:id="Rcf03b43066654baf"/>
  </p:notesMasterIdLst>
  <p:sldIdLst>
    <p:sldId xmlns:r="http://schemas.openxmlformats.org/officeDocument/2006/relationships" id="256" r:id="Rb9090f120add4044"/>
    <p:sldId xmlns:r="http://schemas.openxmlformats.org/officeDocument/2006/relationships" id="257" r:id="Ra353c296b2d74728"/>
    <p:sldId xmlns:r="http://schemas.openxmlformats.org/officeDocument/2006/relationships" id="258" r:id="R4ab77835add042ba"/>
    <p:sldId xmlns:r="http://schemas.openxmlformats.org/officeDocument/2006/relationships" id="259" r:id="R17bf5034e3604d78"/>
    <p:sldId xmlns:r="http://schemas.openxmlformats.org/officeDocument/2006/relationships" id="260" r:id="R7f6a685f9a434727"/>
    <p:sldId xmlns:r="http://schemas.openxmlformats.org/officeDocument/2006/relationships" id="261" r:id="R5cdf9dd1857f4e45"/>
    <p:sldId xmlns:r="http://schemas.openxmlformats.org/officeDocument/2006/relationships" id="262" r:id="Rc905982fa6fb45d3"/>
    <p:sldId xmlns:r="http://schemas.openxmlformats.org/officeDocument/2006/relationships" id="263" r:id="R646915c8b63c43fe"/>
    <p:sldId xmlns:r="http://schemas.openxmlformats.org/officeDocument/2006/relationships" id="264" r:id="R045255d64c44415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c5669ddbcd4a9d" /><Relationship Type="http://schemas.openxmlformats.org/officeDocument/2006/relationships/slideMaster" Target="/ppt/slideMasters/slideMaster1.xml" Id="Rb77805f60a5349c9" /><Relationship Type="http://schemas.openxmlformats.org/officeDocument/2006/relationships/notesMaster" Target="/ppt/notesMasters/notesMaster1.xml" Id="Rcf03b43066654baf" /><Relationship Type="http://schemas.openxmlformats.org/officeDocument/2006/relationships/presProps" Target="/ppt/presProps.xml" Id="Rfc2f341b4f2f4c4b" /><Relationship Type="http://schemas.openxmlformats.org/officeDocument/2006/relationships/tableStyles" Target="/ppt/tableStyles.xml" Id="Rdca0376977a4492f" /><Relationship Type="http://schemas.openxmlformats.org/officeDocument/2006/relationships/slide" Target="/ppt/slides/slide1.xml" Id="Rb9090f120add4044" /><Relationship Type="http://schemas.openxmlformats.org/officeDocument/2006/relationships/slide" Target="/ppt/slides/slide2.xml" Id="Ra353c296b2d74728" /><Relationship Type="http://schemas.openxmlformats.org/officeDocument/2006/relationships/slide" Target="/ppt/slides/slide3.xml" Id="R4ab77835add042ba" /><Relationship Type="http://schemas.openxmlformats.org/officeDocument/2006/relationships/slide" Target="/ppt/slides/slide4.xml" Id="R17bf5034e3604d78" /><Relationship Type="http://schemas.openxmlformats.org/officeDocument/2006/relationships/slide" Target="/ppt/slides/slide5.xml" Id="R7f6a685f9a434727" /><Relationship Type="http://schemas.openxmlformats.org/officeDocument/2006/relationships/slide" Target="/ppt/slides/slide6.xml" Id="R5cdf9dd1857f4e45" /><Relationship Type="http://schemas.openxmlformats.org/officeDocument/2006/relationships/slide" Target="/ppt/slides/slide7.xml" Id="Rc905982fa6fb45d3" /><Relationship Type="http://schemas.openxmlformats.org/officeDocument/2006/relationships/slide" Target="/ppt/slides/slide8.xml" Id="R646915c8b63c43fe" /><Relationship Type="http://schemas.openxmlformats.org/officeDocument/2006/relationships/slide" Target="/ppt/slides/slide9.xml" Id="R045255d64c4441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b3a25c1db740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e1e1476abe49fa" /><Relationship Type="http://schemas.openxmlformats.org/officeDocument/2006/relationships/notesMaster" Target="/ppt/notesMasters/notesMaster1.xml" Id="R2acf84ec85a84e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fac866855147ab" /><Relationship Type="http://schemas.openxmlformats.org/officeDocument/2006/relationships/notesMaster" Target="/ppt/notesMasters/notesMaster1.xml" Id="Rfa916e6af48e4d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8c496262264e75" /><Relationship Type="http://schemas.openxmlformats.org/officeDocument/2006/relationships/notesMaster" Target="/ppt/notesMasters/notesMaster1.xml" Id="R14216c1946ed4d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ecf688623a4937" /><Relationship Type="http://schemas.openxmlformats.org/officeDocument/2006/relationships/notesMaster" Target="/ppt/notesMasters/notesMaster1.xml" Id="Rabb4d5b96a634e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20e139e8fb44d1" /><Relationship Type="http://schemas.openxmlformats.org/officeDocument/2006/relationships/notesMaster" Target="/ppt/notesMasters/notesMaster1.xml" Id="Re8ddb46dcbc24d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1137f67c2b4bfa" /><Relationship Type="http://schemas.openxmlformats.org/officeDocument/2006/relationships/notesMaster" Target="/ppt/notesMasters/notesMaster1.xml" Id="R805b37152ba84b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9e092ca5234968" /><Relationship Type="http://schemas.openxmlformats.org/officeDocument/2006/relationships/notesMaster" Target="/ppt/notesMasters/notesMaster1.xml" Id="R1ef18ee51add4d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30bb868f1548e9" /><Relationship Type="http://schemas.openxmlformats.org/officeDocument/2006/relationships/notesMaster" Target="/ppt/notesMasters/notesMaster1.xml" Id="R48fe4a7a920044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91bb1839584b2d" /><Relationship Type="http://schemas.openxmlformats.org/officeDocument/2006/relationships/notesMaster" Target="/ppt/notesMasters/notesMaster1.xml" Id="R7a0872b76d4c4e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df5aa430df45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4659fa50584272" /><Relationship Type="http://schemas.openxmlformats.org/officeDocument/2006/relationships/slideLayout" Target="/ppt/slideLayouts/slideLayout1.xml" Id="Rf8ebc30bb57746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ebc30bb57746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e304200b94de3" /><Relationship Type="http://schemas.openxmlformats.org/officeDocument/2006/relationships/image" Target="/ppt/media/image.jpeg" Id="R85c279e405614e3a" /><Relationship Type="http://schemas.openxmlformats.org/officeDocument/2006/relationships/notesSlide" Target="/ppt/notesSlides/notesSlide1.xml" Id="Ref91574cdb9340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2baec1e5a427e" /><Relationship Type="http://schemas.openxmlformats.org/officeDocument/2006/relationships/notesSlide" Target="/ppt/notesSlides/notesSlide2.xml" Id="Rc61c1d87b8e248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b60fa6f744b0b" /><Relationship Type="http://schemas.openxmlformats.org/officeDocument/2006/relationships/notesSlide" Target="/ppt/notesSlides/notesSlide3.xml" Id="R00e0dc9eb6cc42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721d93c314f95" /><Relationship Type="http://schemas.openxmlformats.org/officeDocument/2006/relationships/notesSlide" Target="/ppt/notesSlides/notesSlide4.xml" Id="R6238839c272347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cc64a960c48ac" /><Relationship Type="http://schemas.openxmlformats.org/officeDocument/2006/relationships/notesSlide" Target="/ppt/notesSlides/notesSlide5.xml" Id="Rfc4edc916dca4b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29e0491664ef5" /><Relationship Type="http://schemas.openxmlformats.org/officeDocument/2006/relationships/notesSlide" Target="/ppt/notesSlides/notesSlide6.xml" Id="Rad19b806aa164d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189c4153541f6" /><Relationship Type="http://schemas.openxmlformats.org/officeDocument/2006/relationships/notesSlide" Target="/ppt/notesSlides/notesSlide7.xml" Id="Rb3b5c05bc9364b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e879da65143f9" /><Relationship Type="http://schemas.openxmlformats.org/officeDocument/2006/relationships/notesSlide" Target="/ppt/notesSlides/notesSlide8.xml" Id="R6ecd5cf0df874c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447686aa64523" /><Relationship Type="http://schemas.openxmlformats.org/officeDocument/2006/relationships/notesSlide" Target="/ppt/notesSlides/notesSlide9.xml" Id="Rc1e3d254b22348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5D170-ADAC-4838-96F7-5FAF06F4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8B777-0F91-4371-AD92-8B8947C2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ELECTRÓNICA ANALÓGICA Y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5CE15-9B0C-4E6F-B193-54597CFA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219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Síntesis analógica y Parcial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72F56-EFEC-4A2E-9343-6AA4E43B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Semana 5 · Ingeniería Eléctrica · 2026-2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70E74-3DD2-43D6-A2C0-DFEED19C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9C705-CFA8-44EF-97B9-686705FA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Explicar el recorrido completo de energía y control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279e405614e3a"/>
          <a:srcRect xmlns:a="http://schemas.openxmlformats.org/drawingml/2006/main" l="25781" t="0" r="257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0011E-CFF7-4E52-84A9-D7111B90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3531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>
              <a:alpha val="7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2A43C-28A2-4D5B-B693-DEDBA0DE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381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Foto/diagrama: Zxelt · Wikimedia Commons · CC0</a:t>
            </a:r>
          </a:p>
        </p:txBody>
      </p:sp>
    </p:spTree>
    <p:extLst>
      <p:ext uri="{BB962C8B-B14F-4D97-AF65-F5344CB8AC3E}">
        <p14:creationId xmlns:p14="http://schemas.microsoft.com/office/powerpoint/2010/main" val="8286997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B5512B-4AAD-44C4-B72A-8A1D038D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INTRODUCCIÓN Y RUTA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016A3-BADF-4713-A634-FE0E0311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que conectamos y lo que haremos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5EE8B-9FC7-408B-B4CA-A0082010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79CED-0DE9-4FEC-97B0-4BCF407B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BA2C2-8A0E-45AF-A55E-DA299631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Ya construimos la cadena: rectificar, filtrar, regular, conmutar y proteger.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8094C-AA2A-446C-BE77-5049662D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6CCE8-D679-4BB1-902C-72EB4BE7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75FEDA-B2B7-407C-BFD4-0D49CA5E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321D9-D753-4680-BE7D-2EDE8E54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Activar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65F7A-12BF-4B35-888E-8B700F93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74F6A-4A70-49D4-8AE7-27DA2A45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8A5A9-B4F7-4378-8633-3309EF55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B7599-DFCF-4746-83FD-7706DAAF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87A82-4A62-45EB-BBEF-F111BE71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90F8F-001F-4354-86EF-DEF56A0C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424F6A-ABB5-481E-B0F6-4B95861D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D5D52D-5AF4-4F68-8D70-99AAC459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Demostrar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8FBD5D-A20C-4CD6-A4A6-5DD99330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BD17A6-8C36-4592-8729-AB964A06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63E101-127F-4011-A38F-D0CB3946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465D4F-FCC5-4F18-B5EA-1D21D715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Conectar con ABP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033E16-85D4-445D-A06A-1B6ACCDC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1028700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AFF332-BF67-40A2-9CA2-3202D42B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Hoy hay Parcial 1: activación, aclaración y evaluación individual.</a:t>
            </a:r>
          </a:p>
        </p:txBody>
      </p:sp>
    </p:spTree>
    <p:extLst>
      <p:ext uri="{BB962C8B-B14F-4D97-AF65-F5344CB8AC3E}">
        <p14:creationId xmlns:p14="http://schemas.microsoft.com/office/powerpoint/2010/main" val="2785658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E5AEE5-AAD8-4CCD-A1A0-27660EB2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OBJETIVOS DE APRENDIZAJE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5E44C-7FCD-43E2-AA38-5D1E6D19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Al finalizar esta semana podrás…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3E5EA-9578-489B-9A84-873E1288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1FFEC-80F4-4AA0-B257-5DA4BF36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B46A9-7E6F-4C32-8C16-BFFA9057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94BBB-A5A9-4FFC-AD2E-B4E54C92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4CFB7-B355-41A7-853E-DB5F3CA7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D93B1-8BD7-4BA7-B07F-8053A677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F28CB-A7DC-4974-993A-11537D57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Integrar diodo, Zener, BJT y MOSFET en un solo razonamiento.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FA76D-6265-4720-A887-9F0997D4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C85E7-AE4F-4CC4-ADEE-F2690346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C83CAB-F95C-4ACB-B11A-70B6A367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E576F9-E2CE-4C64-A3AF-E095F651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Aplicar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58BB6-F488-429A-AFD6-2B88F55E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Detectar errores de cálculo, polaridad y medición.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CA9F3-E610-44EC-9E30-39D22043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B09C21-5FDA-4122-9792-AD0F57EB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135EA6-6CA9-4C06-B683-00633517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011F1-E4B0-41BD-921A-640EB984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Integrar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ECDED9-12BA-4DDA-B4BE-A9487177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Resolver el Parcial 1 con procedimiento verificable.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196CC9-9E90-45B6-9D54-72367FC2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Evidencia: procedimiento, unidades, justificación y comprobación.</a:t>
            </a:r>
          </a:p>
        </p:txBody>
      </p:sp>
    </p:spTree>
    <p:extLst>
      <p:ext uri="{BB962C8B-B14F-4D97-AF65-F5344CB8AC3E}">
        <p14:creationId xmlns:p14="http://schemas.microsoft.com/office/powerpoint/2010/main" val="21177883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BA9551-52D9-4CD1-8B82-DDCEAEDC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CONCEPTOS ESENCIALES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AB715-190D-41E5-993F-2A579727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Cuatro ideas para explicar el comportamiento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F8B79-2050-4305-828B-9418EED5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588AF-2764-4052-83C9-BEE6E8FE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AED6C-E582-4F36-A2F4-EF46850C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2385C-331C-4A5D-9B75-6E64816C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6AB88-3B96-4F20-A12C-216D2652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8126A-4C6A-4519-9601-21AFF1E5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Entrada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359A9-3F13-473C-929C-672AF7BC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Diferencie RMS, pico y frecuencia antes de calcular.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865451-55A5-45FD-BF47-EEB98FE4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33786-4606-4B2E-9560-3C17F456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3955D-0849-47E4-B989-9A006014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575E0-7AC9-4D2E-8D28-6CBE0D68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Conversión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1B725-C2C9-4DDA-8048-6CB828B1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Considere caídas en el puente, filtro y rizado.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681FC9-E3D2-45F5-8BC0-40B3E8B1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3ECC32-CAF0-4930-9189-4BDF5861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56844F-312E-4E00-ADFC-8B7C9950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0F5A0E-9F38-4B58-8031-6DD3B91E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A96C32-A60C-4864-87BA-4D84432C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Identifique región de operación y nivel de excitación.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1391B2-106C-4B90-8827-71270779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0ED86D-8561-476A-AA51-5A6F5D7A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D2F0B3-F774-44AD-A4B9-6A0CDF02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6015ED-74EF-44B2-9E7A-93BF9D45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Protección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F4DF0C-8FB8-46B6-85A5-0DE7E02D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Revise potencia, polaridades y transitorios inductivos.</a:t>
            </a:r>
          </a:p>
        </p:txBody>
      </p:sp>
    </p:spTree>
    <p:extLst>
      <p:ext uri="{BB962C8B-B14F-4D97-AF65-F5344CB8AC3E}">
        <p14:creationId xmlns:p14="http://schemas.microsoft.com/office/powerpoint/2010/main" val="13361331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AB164-B11A-4DF8-80E8-7DD32A25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EJEMPLO GUIADO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001BE-BF2B-4127-A357-650A297E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Ruta de verificación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3A8D1-48B0-473F-B638-EA090E7B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A9022-F92E-43B4-9300-927D6815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E8933-0787-412B-A08A-A416C5B3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46863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49C53-736E-4C84-9A4D-38C2CB2F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3886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Fuente → puente → capacitor → Zener → transistor → carga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AE35E-5DD7-4AF6-9F5D-F6E63EA4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Primero: represente datos, unidades y supuestos.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43053-8B35-4E5B-89B9-108592E5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28800"/>
            <a:ext cx="56007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F2C1A-C884-4764-A5FF-0F612934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Calcule → prediga → mida → compare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99E7A-A72C-4B1C-B21E-6553479A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4648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Una respuesta completa incluye unidades, criterio y comprobación física.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3E347F-577A-49B6-963C-04EEC486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4C4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4C4C"/>
                </a:solidFill>
                <a:latin typeface="Aptos"/>
                <a:ea typeface="Aptos"/>
                <a:cs typeface="Aptos"/>
              </a:rPr>
              <a:t>Pregunta al equipo: ¿qué mediría para comprobarlo y qué resultado haría cambiar la decisión?</a:t>
            </a:r>
          </a:p>
        </p:txBody>
      </p:sp>
    </p:spTree>
    <p:extLst>
      <p:ext uri="{BB962C8B-B14F-4D97-AF65-F5344CB8AC3E}">
        <p14:creationId xmlns:p14="http://schemas.microsoft.com/office/powerpoint/2010/main" val="7040433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FE1D97-A2B8-4DC7-BA78-AC76D7CF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ACTIVIDAD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B390A-92F3-4E21-A7C5-8EA03AAD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Prediga, contraste y explique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BDB1F-7912-4707-A520-C5EE8D7E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32DA5-29F7-4D36-B5AB-43708CD4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30A64-988F-462F-9192-511D9419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D8F27-D634-4E81-B5A4-7654ED34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A17BE-01E9-4994-BB25-5E949718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7C607-4985-45D6-92B2-5CD52F50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Reconstruya en equipo un circuito con un dato faltante.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83D58-3BFA-49ED-89BB-2AEDD543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AB06E5-825F-4CA8-B6D3-68A4AF30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03CE3-162A-4397-AA82-004C234A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843A0-9872-47A4-A534-8178C568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Intercambie la solución y audite unidades y supuestos.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E75EB-59B8-4C85-89CE-D7D59E12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2BEA61-10E3-4C82-99F5-44D03B65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793ADC-C85F-44FF-BFB6-FAF21156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C1C43C-6133-4C54-A937-4F0FB4BD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Formule una última duda concreta antes del parcial.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9D5A7-514F-4AAD-8EE5-20D51BF3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48350"/>
            <a:ext cx="94869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B3056A-278E-47B9-AC44-66EA70CF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Cada respuesta debe incluir una razón técnica, no solo el resultado.</a:t>
            </a:r>
          </a:p>
        </p:txBody>
      </p:sp>
    </p:spTree>
    <p:extLst>
      <p:ext uri="{BB962C8B-B14F-4D97-AF65-F5344CB8AC3E}">
        <p14:creationId xmlns:p14="http://schemas.microsoft.com/office/powerpoint/2010/main" val="8561722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D91CCB-AAE6-4F08-9173-C1221D11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EVALUACIÓN DEL CORTE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7220C-68B5-44CF-A466-5EF85532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Parcial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EAD27-8C6E-4502-B745-23E86141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D834C-67FA-4DB7-B0F3-C94952C6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A48B1-7BD9-4645-903D-A1F469AF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1074420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82CE2-45BE-4118-86A3-D36C052B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Evaluación individual de la unidad analógica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C80FD-4D61-4D4C-963A-43CD07BD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32766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29AE4-31A9-4290-A759-5355C0A3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A6B69-FE5B-4046-8756-0EEACC72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FF4C6-BD6E-44B7-981C-47246022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Lea todo antes de empezar.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7A792-390A-4DD4-B10D-125CC9B2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00500"/>
            <a:ext cx="32766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29C68-2140-4D5A-A634-68CC4982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91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C8A43-E98C-4C2B-BE3E-412F591E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91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5A89F-ECF0-4C44-A287-27DFABA6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1480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Muestre procedimiento y unidades.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704808-6E69-496A-9F64-6E27817E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00500"/>
            <a:ext cx="32766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11A221-3CC8-43A9-91AB-98365D47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91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E1AF66-66A6-4271-B8FE-69490CB3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91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C34D78-EF4A-4604-9138-FC159186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1480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Compruebe si el resultado es físicamente posible.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54476A-B918-493F-AAF3-0560E4AA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95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Se publican fecha, modalidad y temas generales; los ejercicios se entregan a la hora programada.</a:t>
            </a:r>
          </a:p>
        </p:txBody>
      </p:sp>
    </p:spTree>
    <p:extLst>
      <p:ext uri="{BB962C8B-B14F-4D97-AF65-F5344CB8AC3E}">
        <p14:creationId xmlns:p14="http://schemas.microsoft.com/office/powerpoint/2010/main" val="12452750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25E20A-E668-49FF-9107-EE098D48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CONEXIÓN ABP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AF331-EE86-4808-89A6-E574E250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¿Qué aporta esta semana al proyecto?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A0BDF-909F-4CB8-A637-B914B05B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93593-BE50-43A4-B9AF-522E64D6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19003-9416-4104-AF9B-01908433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7442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DA26F-02F6-43C4-8985-392908D0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33600"/>
            <a:ext cx="971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la retroalimentación del Preproyecto 1 para corregir la etapa analógica; la nota final valorará la integración corregida.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2BB01-EAEF-4007-A2FA-7D718564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55740-D760-4376-AB16-0FAFE310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Necesidad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21FA8-E473-4ABB-B04A-62AB18D8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21D36-10F7-4542-92E2-089ECC94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09071-A56B-4698-948C-97591533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Decisión técnica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1197D-331B-4D15-9D09-29D8AEE5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53162-03B1-40D9-9CFB-A7FB1935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D8717C-3B00-4A61-B457-C00E1989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44371D-B578-4050-8210-0DE1AEBB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1292AF-A89E-4953-B896-3EE12ECC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1BA128-6C25-4E70-803F-9BFBF5F7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Mejora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EE95AB-B849-4A23-92CB-A0C5E547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El preproyecto orienta y permite corregir; el proyecto final valora la integración final mejorada.</a:t>
            </a:r>
          </a:p>
        </p:txBody>
      </p:sp>
    </p:spTree>
    <p:extLst>
      <p:ext uri="{BB962C8B-B14F-4D97-AF65-F5344CB8AC3E}">
        <p14:creationId xmlns:p14="http://schemas.microsoft.com/office/powerpoint/2010/main" val="20669926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F699CC-11C3-4CCD-ACEF-5A50F102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CONCLUSIÓN Y SALIDA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F2571-578A-4B6F-9348-396C9499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esencial se convierte en una decisión de diseño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4C18B-17CE-4C50-A1E0-123A11E7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01AA0-EB7D-4AA0-9BC3-D6D87CA4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4AE33-E3C0-40D3-9A35-30FAE2BD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5715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1293B"/>
                </a:solidFill>
                <a:latin typeface="Aptos"/>
                <a:ea typeface="Aptos"/>
                <a:cs typeface="Aptos"/>
              </a:rPr>
              <a:t>La unidad analógica queda dominada cuando el estudiante puede explicar dónde entra la energía, cómo se acondiciona y por qué la carga opera de forma segura.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73A78-E1FE-4719-ABD8-0A5A7369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57150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1B48F-B9F6-4983-A80F-90C5C786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5048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Salida breve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¿Qué puedo explicar?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¿Qué evidencia obtuve?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¿Qué debo mejorar en el ABP?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0E3F7-E0C5-44B8-9227-DDE948D3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47850"/>
            <a:ext cx="46863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7C129-BF7A-4E1D-9379-AFF2DA4A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Próxima conexión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F6243-6BDA-4836-982C-27A2B116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848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Sistemas numéricos y variables digitales.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65EE11-8BF8-44C2-9948-DB8A719A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Conserve cálculos, fotos, mediciones y decisiones: serán evidencia del proceso.</a:t>
            </a:r>
          </a:p>
        </p:txBody>
      </p:sp>
    </p:spTree>
    <p:extLst>
      <p:ext uri="{BB962C8B-B14F-4D97-AF65-F5344CB8AC3E}">
        <p14:creationId xmlns:p14="http://schemas.microsoft.com/office/powerpoint/2010/main" val="18020694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2026-07-22T15:31:48.7780000Z</dcterms:created>
  <dcterms:modified xsi:type="dcterms:W3CDTF">2026-07-22T15:31:48.7780000Z</dcterms:modified>
</coreProperties>
</file>