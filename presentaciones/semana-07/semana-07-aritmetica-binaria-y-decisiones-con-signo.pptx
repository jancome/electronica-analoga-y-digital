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dfe02307fa445b" /><Relationship Type="http://schemas.openxmlformats.org/officeDocument/2006/relationships/extended-properties" Target="/docProps/app.xml" Id="Rd938a4875b9045d3" /><Relationship Type="http://schemas.openxmlformats.org/officeDocument/2006/relationships/officeDocument" Target="/ppt/presentation.xml" Id="R30948e5bfca848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fae173752f48e8"/>
  </p:sldMasterIdLst>
  <p:notesMasterIdLst>
    <p:notesMasterId xmlns:r="http://schemas.openxmlformats.org/officeDocument/2006/relationships" r:id="R16398b8bd2104d19"/>
  </p:notesMasterIdLst>
  <p:sldIdLst>
    <p:sldId xmlns:r="http://schemas.openxmlformats.org/officeDocument/2006/relationships" id="256" r:id="Rd613e86b23ac47c5"/>
    <p:sldId xmlns:r="http://schemas.openxmlformats.org/officeDocument/2006/relationships" id="257" r:id="R1b4dc9380f4d4d9c"/>
    <p:sldId xmlns:r="http://schemas.openxmlformats.org/officeDocument/2006/relationships" id="258" r:id="R17769b66d7904419"/>
    <p:sldId xmlns:r="http://schemas.openxmlformats.org/officeDocument/2006/relationships" id="259" r:id="R1ebe36bb91ac4d2f"/>
    <p:sldId xmlns:r="http://schemas.openxmlformats.org/officeDocument/2006/relationships" id="260" r:id="R2998fef6838e4bb5"/>
    <p:sldId xmlns:r="http://schemas.openxmlformats.org/officeDocument/2006/relationships" id="261" r:id="Ra5f22b6145a64773"/>
    <p:sldId xmlns:r="http://schemas.openxmlformats.org/officeDocument/2006/relationships" id="262" r:id="R76927b0748da4304"/>
    <p:sldId xmlns:r="http://schemas.openxmlformats.org/officeDocument/2006/relationships" id="263" r:id="Rbb8655e1baa140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ea6f167a244bea" /><Relationship Type="http://schemas.openxmlformats.org/officeDocument/2006/relationships/slideMaster" Target="/ppt/slideMasters/slideMaster1.xml" Id="R3dfae173752f48e8" /><Relationship Type="http://schemas.openxmlformats.org/officeDocument/2006/relationships/notesMaster" Target="/ppt/notesMasters/notesMaster1.xml" Id="R16398b8bd2104d19" /><Relationship Type="http://schemas.openxmlformats.org/officeDocument/2006/relationships/presProps" Target="/ppt/presProps.xml" Id="Rdbf54699c9e446ab" /><Relationship Type="http://schemas.openxmlformats.org/officeDocument/2006/relationships/tableStyles" Target="/ppt/tableStyles.xml" Id="Re2b1298bb1f641d2" /><Relationship Type="http://schemas.openxmlformats.org/officeDocument/2006/relationships/slide" Target="/ppt/slides/slide1.xml" Id="Rd613e86b23ac47c5" /><Relationship Type="http://schemas.openxmlformats.org/officeDocument/2006/relationships/slide" Target="/ppt/slides/slide2.xml" Id="R1b4dc9380f4d4d9c" /><Relationship Type="http://schemas.openxmlformats.org/officeDocument/2006/relationships/slide" Target="/ppt/slides/slide3.xml" Id="R17769b66d7904419" /><Relationship Type="http://schemas.openxmlformats.org/officeDocument/2006/relationships/slide" Target="/ppt/slides/slide4.xml" Id="R1ebe36bb91ac4d2f" /><Relationship Type="http://schemas.openxmlformats.org/officeDocument/2006/relationships/slide" Target="/ppt/slides/slide5.xml" Id="R2998fef6838e4bb5" /><Relationship Type="http://schemas.openxmlformats.org/officeDocument/2006/relationships/slide" Target="/ppt/slides/slide6.xml" Id="Ra5f22b6145a64773" /><Relationship Type="http://schemas.openxmlformats.org/officeDocument/2006/relationships/slide" Target="/ppt/slides/slide7.xml" Id="R76927b0748da4304" /><Relationship Type="http://schemas.openxmlformats.org/officeDocument/2006/relationships/slide" Target="/ppt/slides/slide8.xml" Id="Rbb8655e1baa140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0a176c512249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45320588594bf8" /><Relationship Type="http://schemas.openxmlformats.org/officeDocument/2006/relationships/notesMaster" Target="/ppt/notesMasters/notesMaster1.xml" Id="R9e60e1b3f58846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78d664cdfe4290" /><Relationship Type="http://schemas.openxmlformats.org/officeDocument/2006/relationships/notesMaster" Target="/ppt/notesMasters/notesMaster1.xml" Id="R83814ce8a2b549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6e6950344d432f" /><Relationship Type="http://schemas.openxmlformats.org/officeDocument/2006/relationships/notesMaster" Target="/ppt/notesMasters/notesMaster1.xml" Id="R4f88fbca36c342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a2ac76550b4ce6" /><Relationship Type="http://schemas.openxmlformats.org/officeDocument/2006/relationships/notesMaster" Target="/ppt/notesMasters/notesMaster1.xml" Id="R50ae22837a3f40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119f555ee54de7" /><Relationship Type="http://schemas.openxmlformats.org/officeDocument/2006/relationships/notesMaster" Target="/ppt/notesMasters/notesMaster1.xml" Id="R09b1b82ca6a843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29e2a000754734" /><Relationship Type="http://schemas.openxmlformats.org/officeDocument/2006/relationships/notesMaster" Target="/ppt/notesMasters/notesMaster1.xml" Id="Rb68f7fe4128e49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14eade148f4d99" /><Relationship Type="http://schemas.openxmlformats.org/officeDocument/2006/relationships/notesMaster" Target="/ppt/notesMasters/notesMaster1.xml" Id="R96bd7dc2775544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5b660a714342a4" /><Relationship Type="http://schemas.openxmlformats.org/officeDocument/2006/relationships/notesMaster" Target="/ppt/notesMasters/notesMaster1.xml" Id="Rc264b6fde51c44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c8a520e4a4f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d0e931e77640c7" /><Relationship Type="http://schemas.openxmlformats.org/officeDocument/2006/relationships/slideLayout" Target="/ppt/slideLayouts/slideLayout1.xml" Id="Rae72d64f919d4c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72d64f919d4c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0e5b7d19946a3" /><Relationship Type="http://schemas.openxmlformats.org/officeDocument/2006/relationships/image" Target="/ppt/media/image.jpeg" Id="R078bf5a42b724cbd" /><Relationship Type="http://schemas.openxmlformats.org/officeDocument/2006/relationships/notesSlide" Target="/ppt/notesSlides/notesSlide1.xml" Id="R407a754727a34c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03067487f48a7" /><Relationship Type="http://schemas.openxmlformats.org/officeDocument/2006/relationships/notesSlide" Target="/ppt/notesSlides/notesSlide2.xml" Id="R5c122781cd2849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2a459250041e1" /><Relationship Type="http://schemas.openxmlformats.org/officeDocument/2006/relationships/notesSlide" Target="/ppt/notesSlides/notesSlide3.xml" Id="R0ea59ab3d59544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ddbfe0c6c4de2" /><Relationship Type="http://schemas.openxmlformats.org/officeDocument/2006/relationships/notesSlide" Target="/ppt/notesSlides/notesSlide4.xml" Id="Rd170be52c1e844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35461b80944fc" /><Relationship Type="http://schemas.openxmlformats.org/officeDocument/2006/relationships/notesSlide" Target="/ppt/notesSlides/notesSlide5.xml" Id="Re89bcea5e2e048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8ea42bb2a448f" /><Relationship Type="http://schemas.openxmlformats.org/officeDocument/2006/relationships/notesSlide" Target="/ppt/notesSlides/notesSlide6.xml" Id="R0210d66c5e9543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5736aed2941aa" /><Relationship Type="http://schemas.openxmlformats.org/officeDocument/2006/relationships/notesSlide" Target="/ppt/notesSlides/notesSlide7.xml" Id="R52cc7b509e2240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632e6888246dc" /><Relationship Type="http://schemas.openxmlformats.org/officeDocument/2006/relationships/notesSlide" Target="/ppt/notesSlides/notesSlide8.xml" Id="Ra4b9f02a24554f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D9A25-FC3C-4D8B-9536-BED714AD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27D19-9A78-4DDF-AE61-315BB1F0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ELECTRÓNICA ANALÓGICA Y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4CB84-0F9E-4A7A-B180-D32786ED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Aritmética binaria y decisiones con signo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442DB-B53A-4908-8467-9C013D3A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Semana 7 · Ingeniería Eléctrica · 2026-2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EF64F-AEAB-4992-9D35-F144A5A8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5BF2E-72F9-468C-B04F-D9F36902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Operar datos sin perder su significado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bf5a42b724cbd"/>
          <a:srcRect xmlns:a="http://schemas.openxmlformats.org/drawingml/2006/main" l="27793" t="0" r="277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83568-8157-4CF1-A486-7EC869B4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531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2D">
              <a:alpha val="7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4C0A1-4ED1-4255-BA9F-83C0072F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817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Foto/diagrama: FDominec · Wikimedia Commons · CC BY-SA 3.0</a:t>
            </a:r>
          </a:p>
        </p:txBody>
      </p:sp>
    </p:spTree>
    <p:extLst>
      <p:ext uri="{BB962C8B-B14F-4D97-AF65-F5344CB8AC3E}">
        <p14:creationId xmlns:p14="http://schemas.microsoft.com/office/powerpoint/2010/main" val="1405238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0A0874-B3DC-4C23-A6F0-64D4A641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INTRODUCCIÓN Y RUTA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078CE-6AA9-4E03-A6F5-112ACA76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que conectamos y lo que haremos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A14A9-0598-478F-850A-DDAC36A7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BAB68-AB1E-4789-80C3-75627693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D5645-3C1A-40F7-A3E8-E693E192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Ya podemos representar estados. Ahora debemos operar con ellos y reconocer cuándo un resultado no cabe.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7FD30-88BD-4FFE-AE06-13FD1431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36607-FAC5-467C-96FB-33824152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91FB6-B007-4E33-B466-448593B2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8BFF6-66F1-4EE8-A671-1F3F0FB7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Activar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25090-EE68-4512-976A-7B905812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9C6B4-8107-4C59-A794-24A05A3D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06CBF-76FC-42AA-B0EC-59D1C958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A787B-EC3D-42E2-9C72-5FA3D009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52547-9125-4B5E-8773-A3BC811C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97B77-7757-4B04-9B3E-43C13F57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9982E-79A8-4438-8A56-658D25B0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05637-25E1-45B2-B7C1-82938E43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38E19-7AF7-4BF5-A231-A2C4F3CD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381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E2F01-9802-495F-881F-95FF13BF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2D438-001F-460B-B901-80834679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71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CDE26-A64B-45DC-9EEE-2E36E94B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Conectar con ABP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FA37F-094C-4209-971C-E3DB4310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102870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EB54B-1A4F-42C9-9E28-41207B43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2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clase alterna explicación breve, resolución, discusión y una decisión aplicada al proyecto.</a:t>
            </a:r>
          </a:p>
        </p:txBody>
      </p:sp>
    </p:spTree>
    <p:extLst>
      <p:ext uri="{BB962C8B-B14F-4D97-AF65-F5344CB8AC3E}">
        <p14:creationId xmlns:p14="http://schemas.microsoft.com/office/powerpoint/2010/main" val="479223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F4B56-C50C-4264-BFD1-E0665B5C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OBJETIVOS DE APRENDIZAJE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BEAC5-F1DD-4B65-873C-5201459C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Al finalizar esta semana podrás…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DD58F-8B07-4171-AC81-45C9CF8E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AE2B0-184F-4D69-B51D-ADA2FA37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0375F-7787-4BFD-BCCC-07286E83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0DA8E-F833-4E73-B9F3-0D91CC04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82717-B1F7-49D3-80AA-B1294D36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05FEE-215A-4A2A-922B-D66924C7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Comprender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DE7BD-D667-45CA-A2B6-73F15193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Resolver suma y resta binaria.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9E8B3-CDC6-404D-944D-53C90DCB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1EA06-4D30-4247-9F0C-99CD0B5F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28F00-F54D-45D5-AF5A-BA4DEA4E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02DAD-43BF-49E1-B40D-9781766C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DB83B-8E7A-4AC5-8A3C-5F63AE6B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Representar negativos con complemento a 2.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B4335-4147-48D2-B518-CEE424D0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3528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B38BF-A2F3-4EE8-B275-41212462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9F242-0E72-493E-A98F-04F06A69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DAB85-2C2A-4A35-BAE4-38B0F58F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B45FB-C744-4FD1-B725-817C8B79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9146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Detectar acarreo y overflow en problemas aplicados.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46310-3924-424E-9247-22F53D1D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Evidencia: ejercicio aplicado + decisión documentada para el ABP.</a:t>
            </a:r>
          </a:p>
        </p:txBody>
      </p:sp>
    </p:spTree>
    <p:extLst>
      <p:ext uri="{BB962C8B-B14F-4D97-AF65-F5344CB8AC3E}">
        <p14:creationId xmlns:p14="http://schemas.microsoft.com/office/powerpoint/2010/main" val="14749801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69949A-D802-4BC4-9163-59E951A9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CONCEPTOS ESENCIALES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6F34C-6D53-489C-A198-BE1D0CE2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Cuatro ideas para explicar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D1A8D-FD3D-4FD4-B4F6-7B157A13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DB4AD-D0BF-47A4-806F-A98B40E2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9BB18-2AF2-4B37-8D6A-97016A05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6EE3D-0AF8-42D6-BF48-5013270C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EB58F-0059-4BF5-A05B-CD41A963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59CCE-AFAD-4E07-82B9-A7C47AF0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Suma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9BA42-5BD3-48FD-95A4-991895AA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El acarreo conecta una posición con la siguiente.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3DE9D-2406-43A0-BF57-2248AE6C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EFE8B-CDB3-434B-8742-72FEEC8C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F2000-F95D-4DC2-B31E-77988B3D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0CD56-773F-4E0B-B84E-E48B5D3E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Complemento a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9989A-5E14-4B6F-8524-FD148A97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Permite usar el mismo sumador para valores positivos y negativos.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7F764-89E1-4335-8FB8-B3E79796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3F405-89C2-4022-9EEE-B84F2FB1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BD20C-AA76-4B23-9F9C-F2853924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4A5C4-1400-4CD9-A40F-18AA161D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Rango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28B0F-FC8A-4D45-9C29-8F15EB0A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Con n bits, el rango con signo es −2ⁿ⁻¹ a 2ⁿ⁻¹−1.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7579F-2B35-47F8-BB9D-2392F53E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51435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C3175-4CEB-4F40-8CF5-1F0AE7D5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67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FEDCC-A1B4-4717-81B4-57A13DAB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14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F2447-9068-4DD0-A47F-C802C1F0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57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Overflow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574E2-6E5D-414E-BFE8-91220ED8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464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Ocurre cuando el resultado matemático excede el rango representable.</a:t>
            </a:r>
          </a:p>
        </p:txBody>
      </p:sp>
    </p:spTree>
    <p:extLst>
      <p:ext uri="{BB962C8B-B14F-4D97-AF65-F5344CB8AC3E}">
        <p14:creationId xmlns:p14="http://schemas.microsoft.com/office/powerpoint/2010/main" val="2041558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4B5EB-723B-4406-A46F-640DC3DF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EJEMPLO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50100-8AAE-4344-80E5-72DB3F19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Resta con complemento a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C7C62-7C47-46AA-952A-7741FC47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2BC39-32F0-40BC-B44C-E7439BC1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6641D-3605-40F5-B2F6-E186ACEC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6863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75884-D0CA-484B-989C-EF4D26A8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3886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13 − 6 con 5 bits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0E528-6852-4F6A-A801-F7575EF3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D7D"/>
                </a:solidFill>
                <a:latin typeface="Aptos"/>
                <a:ea typeface="Aptos"/>
                <a:cs typeface="Aptos"/>
              </a:rPr>
              <a:t>Primero: represente datos, unidades y supuestos.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98627-F33C-4CC8-B3A0-CA289851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6007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2D9F8-88B6-404F-BF94-A9AE5432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01101 + (11010) = 1 00111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1AF0D-6C9D-413F-844E-BA465719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64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1D9E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1D9EC"/>
                </a:solidFill>
                <a:latin typeface="Aptos"/>
                <a:ea typeface="Aptos"/>
                <a:cs typeface="Aptos"/>
              </a:rPr>
              <a:t>Se descarta el acarreo: 00111₂ = 7₁₀.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1BA55-0791-4B91-9808-67C744C2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C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C4C"/>
                </a:solidFill>
                <a:latin typeface="Aptos"/>
                <a:ea typeface="Aptos"/>
                <a:cs typeface="Aptos"/>
              </a:rPr>
              <a:t>Pregunta al equipo: ¿qué mediría para comprobarlo y qué resultado haría cambiar la decisión?</a:t>
            </a:r>
          </a:p>
        </p:txBody>
      </p:sp>
    </p:spTree>
    <p:extLst>
      <p:ext uri="{BB962C8B-B14F-4D97-AF65-F5344CB8AC3E}">
        <p14:creationId xmlns:p14="http://schemas.microsoft.com/office/powerpoint/2010/main" val="21127041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934CB-ADBD-47B4-AF66-793AAC8F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ACTIVIDAD ACTIVA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76AA9-008D-47BC-B400-AF04311F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Prediga, contraste y explique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D6933-156B-4C84-91E1-050E00DE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F046A-4A18-408B-ACD9-8E58FB0A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D43E7-89DF-41C5-9E72-5C74EBA5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3FF8F-1DB3-42D1-9AEB-80C5E6F3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A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C2684-F0FD-4AEF-A8BA-36916399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CFF13-7C93-4E45-A0FD-496701B3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Quiz 2: conversiones y operaciones al inicio.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A61DC-C6F2-4680-AF39-2FB6AC7F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816B9-AF80-4BC7-84E1-57C858BB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AE4E9-6E46-4068-99C6-F4AB23A9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48258-03E5-4CF0-8D42-58889AE0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95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Detecte qué resultados producen overflow.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178AE-171F-4DDB-B1C6-8F6C5108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85B3F-426F-4B36-B36E-62DE9425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A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76B57-D366-46F5-BADE-73040A01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41596-9305-4209-BC9E-E9FF32D6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Explique qué error generaría ese desbordamiento en una alarma.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ECE32-D509-4C43-ADEF-B7FF09A9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48350"/>
            <a:ext cx="94869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C7517-1197-4627-AEB2-C6DBE4A8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Cada respuesta debe incluir una razón técnica, no solo el resultado.</a:t>
            </a:r>
          </a:p>
        </p:txBody>
      </p:sp>
    </p:spTree>
    <p:extLst>
      <p:ext uri="{BB962C8B-B14F-4D97-AF65-F5344CB8AC3E}">
        <p14:creationId xmlns:p14="http://schemas.microsoft.com/office/powerpoint/2010/main" val="10343176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A2863-FF47-443F-A806-FA580E1B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CONEXIÓN ABP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DAB91-8EC0-4734-95AE-F849E559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¿Qué aporta esta semana al proyecto?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3C98A-AFFC-477B-8EF7-0BDC3CB8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92BB1-0D37-4747-B24E-8E7F9AA8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8DB1A-9C28-48B9-B73C-37ECAB9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6F5E2-5EE9-4691-A352-D2A4AB38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Definir rangos, resolución y tratamiento de estados inválidos antes de diseñar la lógica.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F1AA1-147E-4FBB-8650-A7383B46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7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C09F0-0E40-47AA-AA99-5ED7B019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CB9A9-C567-4731-B595-9EA1FEF0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249BC-BCF2-4423-95AF-8BC532F5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F0FDF-19B2-4311-B8DC-A468BA7D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Decisión técnica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D2545-A711-4520-9062-3D0C52E3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70AF5-2B78-4D63-94F9-B70F3243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DC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38B75-A1E3-4AFC-914E-28925793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1A074-7A8C-483D-B471-01C82ABF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57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F2410-2204-40DD-97E8-239FA33E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8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BE85B-362A-4ED6-8318-2830B8BF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Mejora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86FE5-5B0C-4D9C-9C50-24D31D8B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El preproyecto orienta y permite corregir; el proyecto final valora la integración final mejorada.</a:t>
            </a:r>
          </a:p>
        </p:txBody>
      </p:sp>
    </p:spTree>
    <p:extLst>
      <p:ext uri="{BB962C8B-B14F-4D97-AF65-F5344CB8AC3E}">
        <p14:creationId xmlns:p14="http://schemas.microsoft.com/office/powerpoint/2010/main" val="645865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DA130-8103-4B83-9363-7C07ADF9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CONCLUSIÓN Y SALIDA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B4DA5-0E15-4912-92DE-E85C5DAC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Lo esencial se convierte en una decisión de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94DEC-EA7B-4A91-AE7B-9F069E78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3A9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8B20E-BA08-4E7B-9576-C388ADD9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36D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36D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A2F9A-CDDA-4652-A695-FE2D9AB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715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293B"/>
                </a:solidFill>
                <a:latin typeface="Aptos"/>
                <a:ea typeface="Aptos"/>
                <a:cs typeface="Aptos"/>
              </a:rPr>
              <a:t>No basta con obtener bits: debemos saber qué significan, qué rango cubren y cuándo el sistema produce un resultado imposible.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0B05C-AC4B-4B35-8309-A287C3E8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715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A3A02-4C19-415C-9851-EBEB5734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Salida breve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¿Qué puedo explicar?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¿Qué evidencia obtuve?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¿Qué debo mejorar en el ABP?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8E15F-FED8-46D8-B9C6-D8E87BA4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47850"/>
            <a:ext cx="46863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31337-3920-4662-B770-BB3404F7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A9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3A9C7"/>
                </a:solidFill>
                <a:latin typeface="Aptos"/>
                <a:ea typeface="Aptos"/>
                <a:cs typeface="Aptos"/>
              </a:rPr>
              <a:t>Próxima conexión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893F7-D1D8-46DD-AA55-FD93BA0B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848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9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293B"/>
                </a:solidFill>
                <a:latin typeface="Aptos"/>
                <a:ea typeface="Aptos"/>
                <a:cs typeface="Aptos"/>
              </a:rPr>
              <a:t>Compuertas lógicas y Laboratorio 01.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0E61E-3DF4-4576-AA6D-3994EB3A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A6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2A66F"/>
                </a:solidFill>
                <a:latin typeface="Aptos"/>
                <a:ea typeface="Aptos"/>
                <a:cs typeface="Aptos"/>
              </a:rPr>
              <a:t>Conserve cálculos, fotos, mediciones y decisiones: serán evidencia del proceso.</a:t>
            </a:r>
          </a:p>
        </p:txBody>
      </p:sp>
    </p:spTree>
    <p:extLst>
      <p:ext uri="{BB962C8B-B14F-4D97-AF65-F5344CB8AC3E}">
        <p14:creationId xmlns:p14="http://schemas.microsoft.com/office/powerpoint/2010/main" val="926393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2026-07-22T15:31:49.3200000Z</dcterms:created>
  <dcterms:modified xsi:type="dcterms:W3CDTF">2026-07-22T15:31:49.3200000Z</dcterms:modified>
</coreProperties>
</file>